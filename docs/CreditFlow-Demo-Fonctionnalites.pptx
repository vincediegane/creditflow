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simplicité : un seul compte pour la boutique. Le multi-utilisateurs viendra avec la version SaaS. Le mot de passe est modifiable dans le fichier .env.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qui vend le produit. Tout ce que le commerçant cherchait dans son cahier est ici, sans rien chercher. Les cartes sont cliquables : chaque chiffre mène à l'écran correspondant.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que la recherche accepte un nom partiel. Insister sur le contrôle des doublons : impossible d'enregistrer deux fois le même client, ce qui évite les créances éclatées sur deux fiches.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réponse à la question la plus fréquente du commerçant : « Combien me doit ce client ? ». Avant, il fallait tout reconstituer. Cliquer sur un contrat pour montrer qu'on rebondit vers son détail.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double prix est le cœur du modèle économique de la boutique : le crédit se paie. Le passage automatique en rupture évite de vendre un produit qu'on n'a plus.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 CLÉ DE LA DÉMO. Faire varier le nombre de mensualités devant le public et montrer que l'échéancier se recalcule instantanément. Le commerçant peut ainsi négocier avec le client, en direct au comptoir.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l'arrondi : sur 100 000 FCFA en 3 fois, on obtient 33 333 + 33 333 + 33 334. La dernière échéance absorbe le reliquat, donc le compte tombe juste au franc près. C'est ce qui évite les litiges.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Chronométrer devant le public si possible. C'est l'argument UX principal : le commerçant encaisse pendant que le client est devant lui, sans le faire attendre.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technique à vulgariser : la règle d'imputation est FIFO, on solde toujours le retard le plus ancien en premier. Exemple concret : un versement de 50 000 sur des échéances de 33 333 solde la première et règle 16 667 sur la deuxième.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 les retards ne sont pas stockés, ils sont recalculés à chaque affichage à partir de la date du jour. Il n'y a donc aucun risque de voir un chiffre périmé.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Comparer avec l'existant : aujourd'hui un message unique part à tous, sans montant. Ici chaque client reçoit SON montant. Préciser que l'envoi automatique par WhatsApp Cloud API est déjà prévu dans l'architecture et s'ajoutera sans réécriture.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Ouvrir réellement un PDF téléchargé pendant la démo : l'effet est fort. Le rapport « Créances restantes » est celui qui intéresse le plus un banquier ou un associé.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 d'usage réel : un client appelle et donne seulement son prénom ou son numéro. En deux secondes le commerçant a toute sa situation.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destinée à un interlocuteur technique ou à un investisseur. Devant un commerçant seul, on peut la passer rapidement. Le message : le produit n'est pas une impasse technique.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120640"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265615" y="0"/>
            <a:ext cx="457200"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997135" y="0"/>
            <a:ext cx="164592" cy="6858000"/>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74519"/>
            <a:ext cx="9144000" cy="365760"/>
          </a:xfrm>
          <a:prstGeom prst="rect">
            <a:avLst/>
          </a:prstGeom>
          <a:noFill/>
        </p:spPr>
        <p:txBody>
          <a:bodyPr wrap="square" anchor="t" lIns="0" rIns="0" tIns="0" bIns="0">
            <a:spAutoFit/>
          </a:bodyPr>
          <a:lstStyle/>
          <a:p>
            <a:pPr algn="l">
              <a:lnSpc>
                <a:spcPct val="100000"/>
              </a:lnSpc>
              <a:spcAft>
                <a:spcPts val="0"/>
              </a:spcAft>
            </a:pPr>
            <a:r>
              <a:rPr sz="1300" b="1">
                <a:solidFill>
                  <a:srgbClr val="4B7AC8"/>
                </a:solidFill>
                <a:latin typeface="Segoe UI"/>
              </a:rPr>
              <a:t>PRÉSENTATION GUIDÉE</a:t>
            </a:r>
          </a:p>
        </p:txBody>
      </p:sp>
      <p:sp>
        <p:nvSpPr>
          <p:cNvPr id="7" name="TextBox 6"/>
          <p:cNvSpPr txBox="1"/>
          <p:nvPr/>
        </p:nvSpPr>
        <p:spPr>
          <a:xfrm>
            <a:off x="685800" y="2286000"/>
            <a:ext cx="9601200" cy="1371600"/>
          </a:xfrm>
          <a:prstGeom prst="rect">
            <a:avLst/>
          </a:prstGeom>
          <a:noFill/>
        </p:spPr>
        <p:txBody>
          <a:bodyPr wrap="square" anchor="t" lIns="0" rIns="0" tIns="0" bIns="0">
            <a:spAutoFit/>
          </a:bodyPr>
          <a:lstStyle/>
          <a:p>
            <a:pPr algn="l">
              <a:lnSpc>
                <a:spcPct val="100000"/>
              </a:lnSpc>
              <a:spcAft>
                <a:spcPts val="0"/>
              </a:spcAft>
            </a:pPr>
            <a:r>
              <a:rPr sz="5400" b="1">
                <a:solidFill>
                  <a:srgbClr val="FFFFFF"/>
                </a:solidFill>
                <a:latin typeface="Segoe UI"/>
              </a:rPr>
              <a:t>CreditFlow en démonstration</a:t>
            </a:r>
          </a:p>
        </p:txBody>
      </p:sp>
      <p:sp>
        <p:nvSpPr>
          <p:cNvPr id="8" name="TextBox 7"/>
          <p:cNvSpPr txBox="1"/>
          <p:nvPr/>
        </p:nvSpPr>
        <p:spPr>
          <a:xfrm>
            <a:off x="685800" y="3703320"/>
            <a:ext cx="8686800" cy="822960"/>
          </a:xfrm>
          <a:prstGeom prst="rect">
            <a:avLst/>
          </a:prstGeom>
          <a:noFill/>
        </p:spPr>
        <p:txBody>
          <a:bodyPr wrap="square" anchor="t" lIns="0" rIns="0" tIns="0" bIns="0">
            <a:spAutoFit/>
          </a:bodyPr>
          <a:lstStyle/>
          <a:p>
            <a:pPr algn="l">
              <a:lnSpc>
                <a:spcPct val="125000"/>
              </a:lnSpc>
              <a:spcAft>
                <a:spcPts val="0"/>
              </a:spcAft>
            </a:pPr>
            <a:r>
              <a:rPr sz="2000" b="0">
                <a:solidFill>
                  <a:srgbClr val="C8D6EC"/>
                </a:solidFill>
                <a:latin typeface="Segoe UI"/>
              </a:rPr>
              <a:t>Parcours complet en 14 étapes : du client à la relance,
en passant par le contrat, l'encaissement et les rapports.</a:t>
            </a:r>
          </a:p>
        </p:txBody>
      </p:sp>
      <p:sp>
        <p:nvSpPr>
          <p:cNvPr id="9" name="Rectangle 8"/>
          <p:cNvSpPr/>
          <p:nvPr/>
        </p:nvSpPr>
        <p:spPr>
          <a:xfrm>
            <a:off x="685800" y="4709160"/>
            <a:ext cx="1280160" cy="45720"/>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029200"/>
            <a:ext cx="8229600" cy="365760"/>
          </a:xfrm>
          <a:prstGeom prst="rect">
            <a:avLst/>
          </a:prstGeom>
          <a:noFill/>
        </p:spPr>
        <p:txBody>
          <a:bodyPr wrap="square" anchor="t" lIns="0" rIns="0" tIns="0" bIns="0">
            <a:spAutoFit/>
          </a:bodyPr>
          <a:lstStyle/>
          <a:p>
            <a:pPr algn="l">
              <a:lnSpc>
                <a:spcPct val="100000"/>
              </a:lnSpc>
              <a:spcAft>
                <a:spcPts val="0"/>
              </a:spcAft>
            </a:pPr>
            <a:r>
              <a:rPr sz="1300" b="0">
                <a:solidFill>
                  <a:srgbClr val="9FB4D6"/>
                </a:solidFill>
                <a:latin typeface="Segoe UI"/>
              </a:rPr>
              <a:t>Durée indicative : 15 à 20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PRÉPARATION</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Avant de commencer</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965960"/>
            <a:ext cx="5212080" cy="228600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65960"/>
            <a:ext cx="5212080" cy="6858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221992"/>
            <a:ext cx="4663440" cy="320040"/>
          </a:xfrm>
          <a:prstGeom prst="rect">
            <a:avLst/>
          </a:prstGeom>
          <a:noFill/>
        </p:spPr>
        <p:txBody>
          <a:bodyPr wrap="square" anchor="t" lIns="0" rIns="0" tIns="0" bIns="0">
            <a:spAutoFit/>
          </a:bodyPr>
          <a:lstStyle/>
          <a:p>
            <a:pPr algn="l">
              <a:lnSpc>
                <a:spcPct val="100000"/>
              </a:lnSpc>
              <a:spcAft>
                <a:spcPts val="0"/>
              </a:spcAft>
            </a:pPr>
            <a:r>
              <a:rPr sz="1400" b="1">
                <a:solidFill>
                  <a:srgbClr val="21529C"/>
                </a:solidFill>
                <a:latin typeface="Segoe UI"/>
              </a:rPr>
              <a:t>Accès</a:t>
            </a:r>
          </a:p>
        </p:txBody>
      </p:sp>
      <p:sp>
        <p:nvSpPr>
          <p:cNvPr id="10" name="TextBox 9"/>
          <p:cNvSpPr txBox="1"/>
          <p:nvPr/>
        </p:nvSpPr>
        <p:spPr>
          <a:xfrm>
            <a:off x="960120" y="2679192"/>
            <a:ext cx="4663440" cy="27127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Application</a:t>
            </a:r>
          </a:p>
        </p:txBody>
      </p:sp>
      <p:sp>
        <p:nvSpPr>
          <p:cNvPr id="11" name="TextBox 10"/>
          <p:cNvSpPr txBox="1"/>
          <p:nvPr/>
        </p:nvSpPr>
        <p:spPr>
          <a:xfrm>
            <a:off x="960120" y="3005328"/>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http://localhost:3010</a:t>
            </a:r>
          </a:p>
        </p:txBody>
      </p:sp>
      <p:sp>
        <p:nvSpPr>
          <p:cNvPr id="12" name="TextBox 11"/>
          <p:cNvSpPr txBox="1"/>
          <p:nvPr/>
        </p:nvSpPr>
        <p:spPr>
          <a:xfrm>
            <a:off x="960120" y="3331464"/>
            <a:ext cx="4663440" cy="27127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Identifiant</a:t>
            </a:r>
          </a:p>
        </p:txBody>
      </p:sp>
      <p:sp>
        <p:nvSpPr>
          <p:cNvPr id="13" name="TextBox 12"/>
          <p:cNvSpPr txBox="1"/>
          <p:nvPr/>
        </p:nvSpPr>
        <p:spPr>
          <a:xfrm>
            <a:off x="960120" y="3657600"/>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admin  /  admin123</a:t>
            </a:r>
          </a:p>
        </p:txBody>
      </p:sp>
      <p:sp>
        <p:nvSpPr>
          <p:cNvPr id="14" name="Rounded Rectangle 13"/>
          <p:cNvSpPr/>
          <p:nvPr/>
        </p:nvSpPr>
        <p:spPr>
          <a:xfrm>
            <a:off x="6263640" y="1965960"/>
            <a:ext cx="5212080" cy="228600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965960"/>
            <a:ext cx="5212080" cy="6858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2221992"/>
            <a:ext cx="4663440" cy="320040"/>
          </a:xfrm>
          <a:prstGeom prst="rect">
            <a:avLst/>
          </a:prstGeom>
          <a:noFill/>
        </p:spPr>
        <p:txBody>
          <a:bodyPr wrap="square" anchor="t" lIns="0" rIns="0" tIns="0" bIns="0">
            <a:spAutoFit/>
          </a:bodyPr>
          <a:lstStyle/>
          <a:p>
            <a:pPr algn="l">
              <a:lnSpc>
                <a:spcPct val="100000"/>
              </a:lnSpc>
              <a:spcAft>
                <a:spcPts val="0"/>
              </a:spcAft>
            </a:pPr>
            <a:r>
              <a:rPr sz="1400" b="1">
                <a:solidFill>
                  <a:srgbClr val="0F9D58"/>
                </a:solidFill>
                <a:latin typeface="Segoe UI"/>
              </a:rPr>
              <a:t>Jeu de démonstration (créé automatiquement)</a:t>
            </a:r>
          </a:p>
        </p:txBody>
      </p:sp>
      <p:sp>
        <p:nvSpPr>
          <p:cNvPr id="17" name="TextBox 16"/>
          <p:cNvSpPr txBox="1"/>
          <p:nvPr/>
        </p:nvSpPr>
        <p:spPr>
          <a:xfrm>
            <a:off x="6537960" y="2679192"/>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10 clients   •   15 produits</a:t>
            </a:r>
          </a:p>
        </p:txBody>
      </p:sp>
      <p:sp>
        <p:nvSpPr>
          <p:cNvPr id="18" name="TextBox 17"/>
          <p:cNvSpPr txBox="1"/>
          <p:nvPr/>
        </p:nvSpPr>
        <p:spPr>
          <a:xfrm>
            <a:off x="6537960" y="3005328"/>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20 contrats de crédit</a:t>
            </a:r>
          </a:p>
        </p:txBody>
      </p:sp>
      <p:sp>
        <p:nvSpPr>
          <p:cNvPr id="19" name="TextBox 18"/>
          <p:cNvSpPr txBox="1"/>
          <p:nvPr/>
        </p:nvSpPr>
        <p:spPr>
          <a:xfrm>
            <a:off x="6537960" y="3331464"/>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30 paiements déjà enregistrés</a:t>
            </a:r>
          </a:p>
        </p:txBody>
      </p:sp>
      <p:sp>
        <p:nvSpPr>
          <p:cNvPr id="20" name="TextBox 19"/>
          <p:cNvSpPr txBox="1"/>
          <p:nvPr/>
        </p:nvSpPr>
        <p:spPr>
          <a:xfrm>
            <a:off x="6537960" y="3657600"/>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9 clients en situation de retard</a:t>
            </a:r>
          </a:p>
        </p:txBody>
      </p:sp>
      <p:sp>
        <p:nvSpPr>
          <p:cNvPr id="21" name="Rounded Rectangle 20"/>
          <p:cNvSpPr/>
          <p:nvPr/>
        </p:nvSpPr>
        <p:spPr>
          <a:xfrm>
            <a:off x="685800" y="4480560"/>
            <a:ext cx="10820095" cy="137160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480560"/>
            <a:ext cx="10820095" cy="68580"/>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736592"/>
            <a:ext cx="10271455" cy="320040"/>
          </a:xfrm>
          <a:prstGeom prst="rect">
            <a:avLst/>
          </a:prstGeom>
          <a:noFill/>
        </p:spPr>
        <p:txBody>
          <a:bodyPr wrap="square" anchor="t" lIns="0" rIns="0" tIns="0" bIns="0">
            <a:spAutoFit/>
          </a:bodyPr>
          <a:lstStyle/>
          <a:p>
            <a:pPr algn="l">
              <a:lnSpc>
                <a:spcPct val="100000"/>
              </a:lnSpc>
              <a:spcAft>
                <a:spcPts val="0"/>
              </a:spcAft>
            </a:pPr>
            <a:r>
              <a:rPr sz="1400" b="1">
                <a:solidFill>
                  <a:srgbClr val="E37400"/>
                </a:solidFill>
                <a:latin typeface="Segoe UI"/>
              </a:rPr>
              <a:t>Conseil de démonstration</a:t>
            </a:r>
          </a:p>
        </p:txBody>
      </p:sp>
      <p:sp>
        <p:nvSpPr>
          <p:cNvPr id="24" name="TextBox 23"/>
          <p:cNvSpPr txBox="1"/>
          <p:nvPr/>
        </p:nvSpPr>
        <p:spPr>
          <a:xfrm>
            <a:off x="960120" y="5193792"/>
            <a:ext cx="10271455" cy="46939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Les données de retard sont réelles et calculées à la date du jour : les chiffres affichés à l'écran évoluent donc naturellement.</a:t>
            </a:r>
          </a:p>
        </p:txBody>
      </p:sp>
      <p:sp>
        <p:nvSpPr>
          <p:cNvPr id="25" name="TextBox 24"/>
          <p:cNvSpPr txBox="1"/>
          <p:nvPr/>
        </p:nvSpPr>
        <p:spPr>
          <a:xfrm>
            <a:off x="960120" y="5718048"/>
            <a:ext cx="10271455"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Suivre l'ordre des étapes : chaque écran prépare le suivant.</a:t>
            </a:r>
          </a:p>
        </p:txBody>
      </p:sp>
      <p:sp>
        <p:nvSpPr>
          <p:cNvPr id="26" name="TextBox 25"/>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27" name="TextBox 26"/>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SOMMAIRE</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Le parcours en un coup d'œil</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  Connexion</a:t>
            </a:r>
          </a:p>
        </p:txBody>
      </p:sp>
      <p:sp>
        <p:nvSpPr>
          <p:cNvPr id="8" name="Rectangle 7"/>
          <p:cNvSpPr/>
          <p:nvPr/>
        </p:nvSpPr>
        <p:spPr>
          <a:xfrm>
            <a:off x="685800" y="242316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0604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2.  Tableau de bord</a:t>
            </a:r>
          </a:p>
        </p:txBody>
      </p:sp>
      <p:sp>
        <p:nvSpPr>
          <p:cNvPr id="10" name="Rectangle 9"/>
          <p:cNvSpPr/>
          <p:nvPr/>
        </p:nvSpPr>
        <p:spPr>
          <a:xfrm>
            <a:off x="685800" y="297180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15468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3.  Liste des clients</a:t>
            </a:r>
          </a:p>
        </p:txBody>
      </p:sp>
      <p:sp>
        <p:nvSpPr>
          <p:cNvPr id="12" name="Rectangle 11"/>
          <p:cNvSpPr/>
          <p:nvPr/>
        </p:nvSpPr>
        <p:spPr>
          <a:xfrm>
            <a:off x="685800" y="352044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70332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4.  Fiche client complète</a:t>
            </a:r>
          </a:p>
        </p:txBody>
      </p:sp>
      <p:sp>
        <p:nvSpPr>
          <p:cNvPr id="14" name="Rectangle 13"/>
          <p:cNvSpPr/>
          <p:nvPr/>
        </p:nvSpPr>
        <p:spPr>
          <a:xfrm>
            <a:off x="685800" y="406908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5196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5.  Catalogue produits</a:t>
            </a:r>
          </a:p>
        </p:txBody>
      </p:sp>
      <p:sp>
        <p:nvSpPr>
          <p:cNvPr id="16" name="Rectangle 15"/>
          <p:cNvSpPr/>
          <p:nvPr/>
        </p:nvSpPr>
        <p:spPr>
          <a:xfrm>
            <a:off x="685800" y="461772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80060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6.  Créer une vente à crédit</a:t>
            </a:r>
          </a:p>
        </p:txBody>
      </p:sp>
      <p:sp>
        <p:nvSpPr>
          <p:cNvPr id="18" name="Rectangle 17"/>
          <p:cNvSpPr/>
          <p:nvPr/>
        </p:nvSpPr>
        <p:spPr>
          <a:xfrm>
            <a:off x="685800" y="516636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34924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7.  Le contrat et son échéancier</a:t>
            </a:r>
          </a:p>
        </p:txBody>
      </p:sp>
      <p:sp>
        <p:nvSpPr>
          <p:cNvPr id="20" name="Rectangle 19"/>
          <p:cNvSpPr/>
          <p:nvPr/>
        </p:nvSpPr>
        <p:spPr>
          <a:xfrm>
            <a:off x="685800" y="571500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205740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8.  Encaisser un paiement</a:t>
            </a:r>
          </a:p>
        </p:txBody>
      </p:sp>
      <p:sp>
        <p:nvSpPr>
          <p:cNvPr id="22" name="Rectangle 21"/>
          <p:cNvSpPr/>
          <p:nvPr/>
        </p:nvSpPr>
        <p:spPr>
          <a:xfrm>
            <a:off x="6263640" y="242316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3640" y="260604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9.  Les mises à jour automatiques</a:t>
            </a:r>
          </a:p>
        </p:txBody>
      </p:sp>
      <p:sp>
        <p:nvSpPr>
          <p:cNvPr id="24" name="Rectangle 23"/>
          <p:cNvSpPr/>
          <p:nvPr/>
        </p:nvSpPr>
        <p:spPr>
          <a:xfrm>
            <a:off x="6263640" y="297180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63640" y="315468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10. Suivi des échéances</a:t>
            </a:r>
          </a:p>
        </p:txBody>
      </p:sp>
      <p:sp>
        <p:nvSpPr>
          <p:cNvPr id="26" name="Rectangle 25"/>
          <p:cNvSpPr/>
          <p:nvPr/>
        </p:nvSpPr>
        <p:spPr>
          <a:xfrm>
            <a:off x="6263640" y="352044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70332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11. Clients en retard et relance</a:t>
            </a:r>
          </a:p>
        </p:txBody>
      </p:sp>
      <p:sp>
        <p:nvSpPr>
          <p:cNvPr id="28" name="Rectangle 27"/>
          <p:cNvSpPr/>
          <p:nvPr/>
        </p:nvSpPr>
        <p:spPr>
          <a:xfrm>
            <a:off x="6263640" y="406908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425196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12. Rapports et exports</a:t>
            </a:r>
          </a:p>
        </p:txBody>
      </p:sp>
      <p:sp>
        <p:nvSpPr>
          <p:cNvPr id="30" name="Rectangle 29"/>
          <p:cNvSpPr/>
          <p:nvPr/>
        </p:nvSpPr>
        <p:spPr>
          <a:xfrm>
            <a:off x="6263640" y="461772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480060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13. Recherche globale</a:t>
            </a:r>
          </a:p>
        </p:txBody>
      </p:sp>
      <p:sp>
        <p:nvSpPr>
          <p:cNvPr id="32" name="Rectangle 31"/>
          <p:cNvSpPr/>
          <p:nvPr/>
        </p:nvSpPr>
        <p:spPr>
          <a:xfrm>
            <a:off x="6263640" y="516636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63640" y="5349240"/>
            <a:ext cx="5120640" cy="365760"/>
          </a:xfrm>
          <a:prstGeom prst="rect">
            <a:avLst/>
          </a:prstGeom>
          <a:noFill/>
        </p:spPr>
        <p:txBody>
          <a:bodyPr wrap="square" anchor="t" lIns="0" rIns="0" tIns="0" bIns="0">
            <a:spAutoFit/>
          </a:bodyPr>
          <a:lstStyle/>
          <a:p>
            <a:pPr algn="l">
              <a:lnSpc>
                <a:spcPct val="100000"/>
              </a:lnSpc>
              <a:spcAft>
                <a:spcPts val="0"/>
              </a:spcAft>
            </a:pPr>
            <a:r>
              <a:rPr sz="1500" b="0">
                <a:solidFill>
                  <a:srgbClr val="1C2331"/>
                </a:solidFill>
                <a:latin typeface="Segoe UI"/>
              </a:rPr>
              <a:t>14. API et documentation</a:t>
            </a:r>
          </a:p>
        </p:txBody>
      </p:sp>
      <p:sp>
        <p:nvSpPr>
          <p:cNvPr id="34" name="Rectangle 33"/>
          <p:cNvSpPr/>
          <p:nvPr/>
        </p:nvSpPr>
        <p:spPr>
          <a:xfrm>
            <a:off x="6263640" y="5715000"/>
            <a:ext cx="4937760" cy="10972"/>
          </a:xfrm>
          <a:prstGeom prst="rect">
            <a:avLst/>
          </a:prstGeom>
          <a:solidFill>
            <a:srgbClr val="D8D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6" name="TextBox 35"/>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1</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Connexion</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Un seul compte administrateur, créé automatiquement au premier démarrage.</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http://localhost:3010</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Saisir admin / admin123</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 Se connecter »</a:t>
            </a:r>
          </a:p>
        </p:txBody>
      </p:sp>
      <p:sp>
        <p:nvSpPr>
          <p:cNvPr id="20" name="Rounded Rectangle 19"/>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3" name="Oval 22"/>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L'accès est protégé : sans connexion, aucune donnée n'est accessible.</a:t>
            </a:r>
          </a:p>
        </p:txBody>
      </p:sp>
      <p:sp>
        <p:nvSpPr>
          <p:cNvPr id="25" name="Oval 24"/>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compte administrateur est créé tout seul, aucune installation manuelle.</a:t>
            </a:r>
          </a:p>
        </p:txBody>
      </p:sp>
      <p:sp>
        <p:nvSpPr>
          <p:cNvPr id="27" name="Oval 26"/>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La session reste ouverte, le commerçant ne se reconnecte pas sans arrêt.</a:t>
            </a:r>
          </a:p>
        </p:txBody>
      </p:sp>
      <p:sp>
        <p:nvSpPr>
          <p:cNvPr id="29" name="TextBox 28"/>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0" name="TextBox 29"/>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2</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Tableau de bord</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La première chose que voit le commerçant le matin : l'état de son activité.</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Parcourir les sept indicateurs du haut</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Descendre sur « Clients en retard »</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 Paiements du jour » et « Prochaines échéances »</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une carte pour rebondir vers le détail</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Nombre de clients, ventes à crédit, montant restant à récupérer.</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Montant encaissé ce mois-ci et paiements du jour.</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Les clients en retard remontent directement, avec le nombre de jours.</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Deux boutons d'action rapide : encaisser et créer une vente.</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3</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Liste des clients</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Retrouver n'importe quel client en une seconde.</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 Clients » dans le menu latéral</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Taper un nom dans la recherche (ex. « Diallo »)</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Puis chercher par numéro de téléphone</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 Nouveau client » pour montrer le formulaire</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La recherche fonctionne sur le nom, le téléphone, la CNI et la profession.</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Les résultats s'affichent au fur et à mesure de la frappe.</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formulaire refuse un téléphone ou une CNI déjà utilisés.</a:t>
            </a:r>
          </a:p>
        </p:txBody>
      </p:sp>
      <p:sp>
        <p:nvSpPr>
          <p:cNvPr id="32" name="TextBox 31"/>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3" name="TextBox 32"/>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4</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Fiche client complète</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Toute la relation commerciale d'un client sur un seul écran.</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l'icône « voir » d'un client</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le bloc « Situation financière »</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Faire défiler l'historique des achats</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Puis l'historique des paiements</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Total acheté, total payé, reste à payer, échéances en retard.</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Tous les contrats du client, avec leur statut.</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Tous les versements, avec date, mode et référence.</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Une photo peut être ajoutée pour identifier le client.</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5</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Catalogue produits</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Les téléphones et ordinateurs vendus, avec leurs deux prix.</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 Produits »</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Filtrer par catégorie</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un produit avec prix comptant et prix à crédit</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Signaler un produit en rupture</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Deux prix distincts : comptant et à crédit.</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stock se décrémente automatiquement à chaque vente.</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 produit dont le stock tombe à zéro passe en rupture tout seul.</a:t>
            </a:r>
          </a:p>
        </p:txBody>
      </p:sp>
      <p:sp>
        <p:nvSpPr>
          <p:cNvPr id="32" name="TextBox 31"/>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3" name="TextBox 32"/>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0F9D58"/>
                </a:solidFill>
                <a:latin typeface="Segoe UI"/>
              </a:rPr>
              <a:t>ÉTAPE 6</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Créer une vente à crédit</a:t>
            </a:r>
          </a:p>
        </p:txBody>
      </p:sp>
      <p:sp>
        <p:nvSpPr>
          <p:cNvPr id="6" name="Rectangle 5"/>
          <p:cNvSpPr/>
          <p:nvPr/>
        </p:nvSpPr>
        <p:spPr>
          <a:xfrm>
            <a:off x="685800" y="1572768"/>
            <a:ext cx="1005840" cy="41148"/>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L'écran le plus important : c'est ici que naît la créance.</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QUE JE FAIS À L'ÉCRAN</a:t>
            </a:r>
          </a:p>
        </p:txBody>
      </p:sp>
      <p:sp>
        <p:nvSpPr>
          <p:cNvPr id="11" name="Oval 10"/>
          <p:cNvSpPr/>
          <p:nvPr/>
        </p:nvSpPr>
        <p:spPr>
          <a:xfrm>
            <a:off x="960120" y="3154680"/>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 Nouvelle vente »</a:t>
            </a:r>
          </a:p>
        </p:txBody>
      </p:sp>
      <p:sp>
        <p:nvSpPr>
          <p:cNvPr id="14" name="Oval 13"/>
          <p:cNvSpPr/>
          <p:nvPr/>
        </p:nvSpPr>
        <p:spPr>
          <a:xfrm>
            <a:off x="960120" y="3721608"/>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Choisir un client, puis un produit</a:t>
            </a:r>
          </a:p>
        </p:txBody>
      </p:sp>
      <p:sp>
        <p:nvSpPr>
          <p:cNvPr id="17" name="Oval 16"/>
          <p:cNvSpPr/>
          <p:nvPr/>
        </p:nvSpPr>
        <p:spPr>
          <a:xfrm>
            <a:off x="960120" y="4288536"/>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Saisir l'acompte et le nombre de mensualités</a:t>
            </a:r>
          </a:p>
        </p:txBody>
      </p:sp>
      <p:sp>
        <p:nvSpPr>
          <p:cNvPr id="20" name="Oval 19"/>
          <p:cNvSpPr/>
          <p:nvPr/>
        </p:nvSpPr>
        <p:spPr>
          <a:xfrm>
            <a:off x="960120" y="4855464"/>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Observer l'échéancier qui se calcule à droite, en direct</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prix se pré-remplit avec le prix à crédit du produit.</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L'échéancier apparaît AVANT d'enregistrer : rien n'est une surprise.</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Montant à financer, mensualité et date de fin sont calculés seuls.</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commerçant peut ajuster et voir l'effet immédiatement.</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7</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Le contrat et son échéancier</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Un contrat = un client, un produit, un échéancier daté.</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le contrat qui vient d'être créé</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le résumé et la barre de progression</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Parcourir le tableau des échéances</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une échéance en retard, en rouge</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Chaque échéance a son numéro, sa date, son montant et son statut.</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La somme des échéances est exactement égale au montant dû.</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retard est calculé en jours, automatiquement.</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Une référence unique identifie le contrat (ex. VC-2026-00021).</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0F9D58"/>
                </a:solidFill>
                <a:latin typeface="Segoe UI"/>
              </a:rPr>
              <a:t>ÉTAPE 8</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Encaisser un paiement</a:t>
            </a:r>
          </a:p>
        </p:txBody>
      </p:sp>
      <p:sp>
        <p:nvSpPr>
          <p:cNvPr id="6" name="Rectangle 5"/>
          <p:cNvSpPr/>
          <p:nvPr/>
        </p:nvSpPr>
        <p:spPr>
          <a:xfrm>
            <a:off x="685800" y="1572768"/>
            <a:ext cx="1005840" cy="41148"/>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L'opération la plus fréquente doit être la plus rapide : trois clics.</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QUE JE FAIS À L'ÉCRAN</a:t>
            </a:r>
          </a:p>
        </p:txBody>
      </p:sp>
      <p:sp>
        <p:nvSpPr>
          <p:cNvPr id="11" name="Oval 10"/>
          <p:cNvSpPr/>
          <p:nvPr/>
        </p:nvSpPr>
        <p:spPr>
          <a:xfrm>
            <a:off x="960120" y="3154680"/>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Depuis le contrat, cliquer sur « Encaisser »</a:t>
            </a:r>
          </a:p>
        </p:txBody>
      </p:sp>
      <p:sp>
        <p:nvSpPr>
          <p:cNvPr id="14" name="Oval 13"/>
          <p:cNvSpPr/>
          <p:nvPr/>
        </p:nvSpPr>
        <p:spPr>
          <a:xfrm>
            <a:off x="960120" y="3721608"/>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Constater que le montant est déjà pré-rempli</a:t>
            </a:r>
          </a:p>
        </p:txBody>
      </p:sp>
      <p:sp>
        <p:nvSpPr>
          <p:cNvPr id="17" name="Oval 16"/>
          <p:cNvSpPr/>
          <p:nvPr/>
        </p:nvSpPr>
        <p:spPr>
          <a:xfrm>
            <a:off x="960120" y="4288536"/>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Choisir le mode de paiement</a:t>
            </a:r>
          </a:p>
        </p:txBody>
      </p:sp>
      <p:sp>
        <p:nvSpPr>
          <p:cNvPr id="20" name="Oval 19"/>
          <p:cNvSpPr/>
          <p:nvPr/>
        </p:nvSpPr>
        <p:spPr>
          <a:xfrm>
            <a:off x="960120" y="4855464"/>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Valider</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montant proposé est celui de la mensualité : souvent rien à saisir.</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Modes disponibles : espèces, Mobile Money, virement, chèque, carte.</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Une référence et une observation peuvent être ajoutées.</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même bouton existe sur le tableau de bord et la liste des retards.</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0F9D58"/>
                </a:solidFill>
                <a:latin typeface="Segoe UI"/>
              </a:rPr>
              <a:t>ÉTAPE 9</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Ce que le paiement met à jour, tout seul</a:t>
            </a:r>
          </a:p>
        </p:txBody>
      </p:sp>
      <p:sp>
        <p:nvSpPr>
          <p:cNvPr id="6" name="Rectangle 5"/>
          <p:cNvSpPr/>
          <p:nvPr/>
        </p:nvSpPr>
        <p:spPr>
          <a:xfrm>
            <a:off x="685800" y="1572768"/>
            <a:ext cx="1005840" cy="41148"/>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Un seul geste, quatre mises à jour simultanées.</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QUE JE FAIS À L'ÉCRAN</a:t>
            </a:r>
          </a:p>
        </p:txBody>
      </p:sp>
      <p:sp>
        <p:nvSpPr>
          <p:cNvPr id="11" name="Oval 10"/>
          <p:cNvSpPr/>
          <p:nvPr/>
        </p:nvSpPr>
        <p:spPr>
          <a:xfrm>
            <a:off x="960120" y="3154680"/>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Revenir sur l'échéancier du contrat</a:t>
            </a:r>
          </a:p>
        </p:txBody>
      </p:sp>
      <p:sp>
        <p:nvSpPr>
          <p:cNvPr id="14" name="Oval 13"/>
          <p:cNvSpPr/>
          <p:nvPr/>
        </p:nvSpPr>
        <p:spPr>
          <a:xfrm>
            <a:off x="960120" y="3721608"/>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l'échéance passée à « Payée »</a:t>
            </a:r>
          </a:p>
        </p:txBody>
      </p:sp>
      <p:sp>
        <p:nvSpPr>
          <p:cNvPr id="17" name="Oval 16"/>
          <p:cNvSpPr/>
          <p:nvPr/>
        </p:nvSpPr>
        <p:spPr>
          <a:xfrm>
            <a:off x="960120" y="4288536"/>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le reste à payer qui a diminué</a:t>
            </a:r>
          </a:p>
        </p:txBody>
      </p:sp>
      <p:sp>
        <p:nvSpPr>
          <p:cNvPr id="20" name="Oval 19"/>
          <p:cNvSpPr/>
          <p:nvPr/>
        </p:nvSpPr>
        <p:spPr>
          <a:xfrm>
            <a:off x="960120" y="4855464"/>
            <a:ext cx="292608" cy="29260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Retourner au tableau de bord</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versement solde d'abord les échéances les plus anciennes.</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Une échéance partiellement réglée passe en « Partiel ».</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contrat passe en « Soldé » dès que le reste atteint zéro.</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tableau de bord reflète immédiatement l'encaissement.</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10</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Suivi des échéances</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Toutes les échéances de la boutique, filtrables.</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 Échéances »</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Activer le filtre « En retard »</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Filtrer sur une période</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Rechercher un client précis</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Colonnes : client, produit, date prévue, montant, statut, retard.</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statut se calcule en direct, il n'y a rien à rafraîchir.</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Chaque ligne permet d'encaisser directement.</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Les filtres se combinent librement.</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E37400"/>
                </a:solidFill>
                <a:latin typeface="Segoe UI"/>
              </a:rPr>
              <a:t>ÉTAPE 11</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Clients en retard et relance</a:t>
            </a:r>
          </a:p>
        </p:txBody>
      </p:sp>
      <p:sp>
        <p:nvSpPr>
          <p:cNvPr id="6" name="Rectangle 5"/>
          <p:cNvSpPr/>
          <p:nvPr/>
        </p:nvSpPr>
        <p:spPr>
          <a:xfrm>
            <a:off x="685800" y="1572768"/>
            <a:ext cx="1005840" cy="41148"/>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La fonction qui remplace le message groupé du début de mois.</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E37400"/>
                </a:solidFill>
                <a:latin typeface="Segoe UI"/>
              </a:rPr>
              <a:t>CE QUE JE FAIS À L'ÉCRAN</a:t>
            </a:r>
          </a:p>
        </p:txBody>
      </p:sp>
      <p:sp>
        <p:nvSpPr>
          <p:cNvPr id="11" name="Oval 10"/>
          <p:cNvSpPr/>
          <p:nvPr/>
        </p:nvSpPr>
        <p:spPr>
          <a:xfrm>
            <a:off x="960120" y="3154680"/>
            <a:ext cx="292608" cy="29260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 Relances »</a:t>
            </a:r>
          </a:p>
        </p:txBody>
      </p:sp>
      <p:sp>
        <p:nvSpPr>
          <p:cNvPr id="14" name="Oval 13"/>
          <p:cNvSpPr/>
          <p:nvPr/>
        </p:nvSpPr>
        <p:spPr>
          <a:xfrm>
            <a:off x="960120" y="3721608"/>
            <a:ext cx="292608" cy="29260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Parcourir le tableau, trié par ancienneté du retard</a:t>
            </a:r>
          </a:p>
        </p:txBody>
      </p:sp>
      <p:sp>
        <p:nvSpPr>
          <p:cNvPr id="17" name="Oval 16"/>
          <p:cNvSpPr/>
          <p:nvPr/>
        </p:nvSpPr>
        <p:spPr>
          <a:xfrm>
            <a:off x="960120" y="4288536"/>
            <a:ext cx="292608" cy="29260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sur « Générer la relance » pour un client</a:t>
            </a:r>
          </a:p>
        </p:txBody>
      </p:sp>
      <p:sp>
        <p:nvSpPr>
          <p:cNvPr id="20" name="Oval 19"/>
          <p:cNvSpPr/>
          <p:nvPr/>
        </p:nvSpPr>
        <p:spPr>
          <a:xfrm>
            <a:off x="960120" y="4855464"/>
            <a:ext cx="292608" cy="292608"/>
          </a:xfrm>
          <a:prstGeom prst="ellipse">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Copier le message</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Jours de retard, montant dû, téléphone : tout est là.</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message est personnalisé avec le nom et le montant réel du client.</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 bouton ouvre directement WhatsApp avec le texte pré-rempli.</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Aucun envoi automatique : le commerçant garde la main.</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12</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Rapports et exports</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De quoi rendre des comptes, et archiver.</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 Rapports »</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Basculer entre les quatre rapports</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Changer la date de référence</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Télécharger en PDF, puis en Excel</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Paiements du jour, paiements du mois, clients en retard, créances restantes.</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Les totaux sont calculés et affichés en haut du rapport.</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 PDF est prêt à imprimer ou à archiver.</a:t>
            </a:r>
          </a:p>
        </p:txBody>
      </p:sp>
      <p:sp>
        <p:nvSpPr>
          <p:cNvPr id="32" name="Oval 31"/>
          <p:cNvSpPr/>
          <p:nvPr/>
        </p:nvSpPr>
        <p:spPr>
          <a:xfrm>
            <a:off x="7132320" y="5093208"/>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020056"/>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L'Excel permet de retravailler les chiffres librement.</a:t>
            </a:r>
          </a:p>
        </p:txBody>
      </p:sp>
      <p:sp>
        <p:nvSpPr>
          <p:cNvPr id="34" name="TextBox 33"/>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5" name="TextBox 34"/>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21529C"/>
                </a:solidFill>
                <a:latin typeface="Segoe UI"/>
              </a:rPr>
              <a:t>ÉTAPE 13</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Recherche globale</a:t>
            </a:r>
          </a:p>
        </p:txBody>
      </p:sp>
      <p:sp>
        <p:nvSpPr>
          <p:cNvPr id="6" name="Rectangle 5"/>
          <p:cNvSpPr/>
          <p:nvPr/>
        </p:nvSpPr>
        <p:spPr>
          <a:xfrm>
            <a:off x="685800" y="1572768"/>
            <a:ext cx="1005840" cy="41148"/>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Une seule barre de recherche pour tout retrouver.</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21529C"/>
                </a:solidFill>
                <a:latin typeface="Segoe UI"/>
              </a:rPr>
              <a:t>CE QUE JE FAIS À L'ÉCRAN</a:t>
            </a:r>
          </a:p>
        </p:txBody>
      </p:sp>
      <p:sp>
        <p:nvSpPr>
          <p:cNvPr id="11" name="Oval 10"/>
          <p:cNvSpPr/>
          <p:nvPr/>
        </p:nvSpPr>
        <p:spPr>
          <a:xfrm>
            <a:off x="960120" y="3154680"/>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Cliquer dans la barre de recherche en haut</a:t>
            </a:r>
          </a:p>
        </p:txBody>
      </p:sp>
      <p:sp>
        <p:nvSpPr>
          <p:cNvPr id="14" name="Oval 13"/>
          <p:cNvSpPr/>
          <p:nvPr/>
        </p:nvSpPr>
        <p:spPr>
          <a:xfrm>
            <a:off x="960120" y="3721608"/>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Taper un nom de client</a:t>
            </a:r>
          </a:p>
        </p:txBody>
      </p:sp>
      <p:sp>
        <p:nvSpPr>
          <p:cNvPr id="17" name="Oval 16"/>
          <p:cNvSpPr/>
          <p:nvPr/>
        </p:nvSpPr>
        <p:spPr>
          <a:xfrm>
            <a:off x="960120" y="4288536"/>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Puis un numéro de téléphone</a:t>
            </a:r>
          </a:p>
        </p:txBody>
      </p:sp>
      <p:sp>
        <p:nvSpPr>
          <p:cNvPr id="20" name="Oval 19"/>
          <p:cNvSpPr/>
          <p:nvPr/>
        </p:nvSpPr>
        <p:spPr>
          <a:xfrm>
            <a:off x="960120" y="4855464"/>
            <a:ext cx="292608" cy="292608"/>
          </a:xfrm>
          <a:prstGeom prst="ellipse">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Puis un nom de produit</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Cherche simultanément dans les clients, les produits et les contrats.</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Les résultats sont regroupés par catégorie.</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 clic mène directement à la fiche concernée.</a:t>
            </a:r>
          </a:p>
        </p:txBody>
      </p:sp>
      <p:sp>
        <p:nvSpPr>
          <p:cNvPr id="32" name="TextBox 31"/>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3" name="TextBox 32"/>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4B7AC8"/>
                </a:solidFill>
                <a:latin typeface="Segoe UI"/>
              </a:rPr>
              <a:t>ÉTAPE 14</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API et documentation</a:t>
            </a:r>
          </a:p>
        </p:txBody>
      </p:sp>
      <p:sp>
        <p:nvSpPr>
          <p:cNvPr id="6" name="Rectangle 5"/>
          <p:cNvSpPr/>
          <p:nvPr/>
        </p:nvSpPr>
        <p:spPr>
          <a:xfrm>
            <a:off x="685800" y="1572768"/>
            <a:ext cx="1005840" cy="41148"/>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10820095" cy="411480"/>
          </a:xfrm>
          <a:prstGeom prst="rect">
            <a:avLst/>
          </a:prstGeom>
          <a:noFill/>
        </p:spPr>
        <p:txBody>
          <a:bodyPr wrap="square" anchor="t" lIns="0" rIns="0" tIns="0" bIns="0">
            <a:spAutoFit/>
          </a:bodyPr>
          <a:lstStyle/>
          <a:p>
            <a:pPr algn="l">
              <a:lnSpc>
                <a:spcPct val="120000"/>
              </a:lnSpc>
              <a:spcAft>
                <a:spcPts val="0"/>
              </a:spcAft>
            </a:pPr>
            <a:r>
              <a:rPr sz="1500" b="0">
                <a:solidFill>
                  <a:srgbClr val="5F6B7C"/>
                </a:solidFill>
                <a:latin typeface="Segoe UI"/>
              </a:rPr>
              <a:t>Pour la suite : le produit est ouvert et documenté.</a:t>
            </a:r>
          </a:p>
        </p:txBody>
      </p:sp>
      <p:sp>
        <p:nvSpPr>
          <p:cNvPr id="8" name="Rounded Rectangle 7"/>
          <p:cNvSpPr/>
          <p:nvPr/>
        </p:nvSpPr>
        <p:spPr>
          <a:xfrm>
            <a:off x="685800" y="2423160"/>
            <a:ext cx="5852160" cy="3246120"/>
          </a:xfrm>
          <a:prstGeom prst="roundRect">
            <a:avLst/>
          </a:prstGeom>
          <a:solidFill>
            <a:srgbClr val="FFFFFF"/>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2423160"/>
            <a:ext cx="5852160" cy="73152"/>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697480"/>
            <a:ext cx="5303520" cy="274320"/>
          </a:xfrm>
          <a:prstGeom prst="rect">
            <a:avLst/>
          </a:prstGeom>
          <a:noFill/>
        </p:spPr>
        <p:txBody>
          <a:bodyPr wrap="square" anchor="t" lIns="0" rIns="0" tIns="0" bIns="0">
            <a:spAutoFit/>
          </a:bodyPr>
          <a:lstStyle/>
          <a:p>
            <a:pPr algn="l">
              <a:lnSpc>
                <a:spcPct val="100000"/>
              </a:lnSpc>
              <a:spcAft>
                <a:spcPts val="0"/>
              </a:spcAft>
            </a:pPr>
            <a:r>
              <a:rPr sz="1150" b="1">
                <a:solidFill>
                  <a:srgbClr val="4B7AC8"/>
                </a:solidFill>
                <a:latin typeface="Segoe UI"/>
              </a:rPr>
              <a:t>CE QUE JE FAIS À L'ÉCRAN</a:t>
            </a:r>
          </a:p>
        </p:txBody>
      </p:sp>
      <p:sp>
        <p:nvSpPr>
          <p:cNvPr id="11" name="Oval 10"/>
          <p:cNvSpPr/>
          <p:nvPr/>
        </p:nvSpPr>
        <p:spPr>
          <a:xfrm>
            <a:off x="960120" y="3154680"/>
            <a:ext cx="292608" cy="292608"/>
          </a:xfrm>
          <a:prstGeom prst="ellipse">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195828"/>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1</a:t>
            </a:r>
          </a:p>
        </p:txBody>
      </p:sp>
      <p:sp>
        <p:nvSpPr>
          <p:cNvPr id="13" name="TextBox 12"/>
          <p:cNvSpPr txBox="1"/>
          <p:nvPr/>
        </p:nvSpPr>
        <p:spPr>
          <a:xfrm>
            <a:off x="1399032" y="3172968"/>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Ouvrir http://localhost:8080/swagger-ui.html</a:t>
            </a:r>
          </a:p>
        </p:txBody>
      </p:sp>
      <p:sp>
        <p:nvSpPr>
          <p:cNvPr id="14" name="Oval 13"/>
          <p:cNvSpPr/>
          <p:nvPr/>
        </p:nvSpPr>
        <p:spPr>
          <a:xfrm>
            <a:off x="960120" y="3721608"/>
            <a:ext cx="292608" cy="292608"/>
          </a:xfrm>
          <a:prstGeom prst="ellipse">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62756"/>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2</a:t>
            </a:r>
          </a:p>
        </p:txBody>
      </p:sp>
      <p:sp>
        <p:nvSpPr>
          <p:cNvPr id="16" name="TextBox 15"/>
          <p:cNvSpPr txBox="1"/>
          <p:nvPr/>
        </p:nvSpPr>
        <p:spPr>
          <a:xfrm>
            <a:off x="1399032" y="3739896"/>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Parcourir les rubriques</a:t>
            </a:r>
          </a:p>
        </p:txBody>
      </p:sp>
      <p:sp>
        <p:nvSpPr>
          <p:cNvPr id="17" name="Oval 16"/>
          <p:cNvSpPr/>
          <p:nvPr/>
        </p:nvSpPr>
        <p:spPr>
          <a:xfrm>
            <a:off x="960120" y="4288536"/>
            <a:ext cx="292608" cy="292608"/>
          </a:xfrm>
          <a:prstGeom prst="ellipse">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4329684"/>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3</a:t>
            </a:r>
          </a:p>
        </p:txBody>
      </p:sp>
      <p:sp>
        <p:nvSpPr>
          <p:cNvPr id="19" name="TextBox 18"/>
          <p:cNvSpPr txBox="1"/>
          <p:nvPr/>
        </p:nvSpPr>
        <p:spPr>
          <a:xfrm>
            <a:off x="1399032" y="4306824"/>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Déplier une opération</a:t>
            </a:r>
          </a:p>
        </p:txBody>
      </p:sp>
      <p:sp>
        <p:nvSpPr>
          <p:cNvPr id="20" name="Oval 19"/>
          <p:cNvSpPr/>
          <p:nvPr/>
        </p:nvSpPr>
        <p:spPr>
          <a:xfrm>
            <a:off x="960120" y="4855464"/>
            <a:ext cx="292608" cy="292608"/>
          </a:xfrm>
          <a:prstGeom prst="ellipse">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896612"/>
            <a:ext cx="292608" cy="274320"/>
          </a:xfrm>
          <a:prstGeom prst="rect">
            <a:avLst/>
          </a:prstGeom>
          <a:noFill/>
        </p:spPr>
        <p:txBody>
          <a:bodyPr wrap="square" anchor="t" lIns="0" rIns="0" tIns="0" bIns="0">
            <a:spAutoFit/>
          </a:bodyPr>
          <a:lstStyle/>
          <a:p>
            <a:pPr algn="ctr">
              <a:lnSpc>
                <a:spcPct val="100000"/>
              </a:lnSpc>
              <a:spcAft>
                <a:spcPts val="0"/>
              </a:spcAft>
            </a:pPr>
            <a:r>
              <a:rPr sz="1100" b="1">
                <a:solidFill>
                  <a:srgbClr val="FFFFFF"/>
                </a:solidFill>
                <a:latin typeface="Segoe UI"/>
              </a:rPr>
              <a:t>4</a:t>
            </a:r>
          </a:p>
        </p:txBody>
      </p:sp>
      <p:sp>
        <p:nvSpPr>
          <p:cNvPr id="22" name="TextBox 21"/>
          <p:cNvSpPr txBox="1"/>
          <p:nvPr/>
        </p:nvSpPr>
        <p:spPr>
          <a:xfrm>
            <a:off x="1399032" y="4873752"/>
            <a:ext cx="4892040" cy="548640"/>
          </a:xfrm>
          <a:prstGeom prst="rect">
            <a:avLst/>
          </a:prstGeom>
          <a:noFill/>
        </p:spPr>
        <p:txBody>
          <a:bodyPr wrap="square" anchor="t" lIns="0" rIns="0" tIns="0" bIns="0">
            <a:spAutoFit/>
          </a:bodyPr>
          <a:lstStyle/>
          <a:p>
            <a:pPr algn="l">
              <a:lnSpc>
                <a:spcPct val="115000"/>
              </a:lnSpc>
              <a:spcAft>
                <a:spcPts val="0"/>
              </a:spcAft>
            </a:pPr>
            <a:r>
              <a:rPr sz="1350" b="0">
                <a:solidFill>
                  <a:srgbClr val="1C2331"/>
                </a:solidFill>
                <a:latin typeface="Segoe UI"/>
              </a:rPr>
              <a:t>Montrer qu'on peut la tester en ligne</a:t>
            </a:r>
          </a:p>
        </p:txBody>
      </p:sp>
      <p:sp>
        <p:nvSpPr>
          <p:cNvPr id="23" name="Rounded Rectangle 22"/>
          <p:cNvSpPr/>
          <p:nvPr/>
        </p:nvSpPr>
        <p:spPr>
          <a:xfrm>
            <a:off x="6858000" y="2423160"/>
            <a:ext cx="4617720" cy="324612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0" y="2423160"/>
            <a:ext cx="4617720" cy="73152"/>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0" y="2697480"/>
            <a:ext cx="4069080" cy="274320"/>
          </a:xfrm>
          <a:prstGeom prst="rect">
            <a:avLst/>
          </a:prstGeom>
          <a:noFill/>
        </p:spPr>
        <p:txBody>
          <a:bodyPr wrap="square" anchor="t" lIns="0" rIns="0" tIns="0" bIns="0">
            <a:spAutoFit/>
          </a:bodyPr>
          <a:lstStyle/>
          <a:p>
            <a:pPr algn="l">
              <a:lnSpc>
                <a:spcPct val="100000"/>
              </a:lnSpc>
              <a:spcAft>
                <a:spcPts val="0"/>
              </a:spcAft>
            </a:pPr>
            <a:r>
              <a:rPr sz="1150" b="1">
                <a:solidFill>
                  <a:srgbClr val="0F9D58"/>
                </a:solidFill>
                <a:latin typeface="Segoe UI"/>
              </a:rPr>
              <a:t>CE QU'IL FAUT SOULIGNER</a:t>
            </a:r>
          </a:p>
        </p:txBody>
      </p:sp>
      <p:sp>
        <p:nvSpPr>
          <p:cNvPr id="26" name="Oval 25"/>
          <p:cNvSpPr/>
          <p:nvPr/>
        </p:nvSpPr>
        <p:spPr>
          <a:xfrm>
            <a:off x="7132320" y="3227832"/>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3154680"/>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Toutes les fonctions sont accessibles par API REST documentée.</a:t>
            </a:r>
          </a:p>
        </p:txBody>
      </p:sp>
      <p:sp>
        <p:nvSpPr>
          <p:cNvPr id="28" name="Oval 27"/>
          <p:cNvSpPr/>
          <p:nvPr/>
        </p:nvSpPr>
        <p:spPr>
          <a:xfrm>
            <a:off x="7132320" y="3849624"/>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0" y="3776472"/>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Une caisse, une comptabilité ou une application mobile peuvent s'y brancher.</a:t>
            </a:r>
          </a:p>
        </p:txBody>
      </p:sp>
      <p:sp>
        <p:nvSpPr>
          <p:cNvPr id="30" name="Oval 29"/>
          <p:cNvSpPr/>
          <p:nvPr/>
        </p:nvSpPr>
        <p:spPr>
          <a:xfrm>
            <a:off x="7132320" y="4471416"/>
            <a:ext cx="109728" cy="109728"/>
          </a:xfrm>
          <a:prstGeom prst="ellipse">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0" y="4398264"/>
            <a:ext cx="3794760" cy="640080"/>
          </a:xfrm>
          <a:prstGeom prst="rect">
            <a:avLst/>
          </a:prstGeom>
          <a:noFill/>
        </p:spPr>
        <p:txBody>
          <a:bodyPr wrap="square" anchor="t" lIns="0" rIns="0" tIns="0" bIns="0">
            <a:spAutoFit/>
          </a:bodyPr>
          <a:lstStyle/>
          <a:p>
            <a:pPr algn="l">
              <a:lnSpc>
                <a:spcPct val="115000"/>
              </a:lnSpc>
              <a:spcAft>
                <a:spcPts val="0"/>
              </a:spcAft>
            </a:pPr>
            <a:r>
              <a:rPr sz="1300" b="0">
                <a:solidFill>
                  <a:srgbClr val="1C2331"/>
                </a:solidFill>
                <a:latin typeface="Segoe UI"/>
              </a:rPr>
              <a:t>C'est la base sur laquelle reposera la version SaaS multi-boutiques.</a:t>
            </a:r>
          </a:p>
        </p:txBody>
      </p:sp>
      <p:sp>
        <p:nvSpPr>
          <p:cNvPr id="32" name="TextBox 31"/>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3" name="TextBox 32"/>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02920"/>
            <a:ext cx="10820095" cy="274320"/>
          </a:xfrm>
          <a:prstGeom prst="rect">
            <a:avLst/>
          </a:prstGeom>
          <a:noFill/>
        </p:spPr>
        <p:txBody>
          <a:bodyPr wrap="square" anchor="t" lIns="0" rIns="0" tIns="0" bIns="0">
            <a:spAutoFit/>
          </a:bodyPr>
          <a:lstStyle/>
          <a:p>
            <a:pPr algn="l">
              <a:lnSpc>
                <a:spcPct val="100000"/>
              </a:lnSpc>
              <a:spcAft>
                <a:spcPts val="0"/>
              </a:spcAft>
            </a:pPr>
            <a:r>
              <a:rPr sz="1200" b="1">
                <a:solidFill>
                  <a:srgbClr val="0F9D58"/>
                </a:solidFill>
                <a:latin typeface="Segoe UI"/>
              </a:rPr>
              <a:t>CONCLUSION</a:t>
            </a:r>
          </a:p>
        </p:txBody>
      </p:sp>
      <p:sp>
        <p:nvSpPr>
          <p:cNvPr id="5" name="TextBox 4"/>
          <p:cNvSpPr txBox="1"/>
          <p:nvPr/>
        </p:nvSpPr>
        <p:spPr>
          <a:xfrm>
            <a:off x="685800" y="822960"/>
            <a:ext cx="10820095" cy="685800"/>
          </a:xfrm>
          <a:prstGeom prst="rect">
            <a:avLst/>
          </a:prstGeom>
          <a:noFill/>
        </p:spPr>
        <p:txBody>
          <a:bodyPr wrap="square" anchor="t" lIns="0" rIns="0" tIns="0" bIns="0">
            <a:spAutoFit/>
          </a:bodyPr>
          <a:lstStyle/>
          <a:p>
            <a:pPr algn="l">
              <a:lnSpc>
                <a:spcPct val="100000"/>
              </a:lnSpc>
              <a:spcAft>
                <a:spcPts val="0"/>
              </a:spcAft>
            </a:pPr>
            <a:r>
              <a:rPr sz="3000" b="1">
                <a:solidFill>
                  <a:srgbClr val="1C2331"/>
                </a:solidFill>
                <a:latin typeface="Segoe UI"/>
              </a:rPr>
              <a:t>Ce que la démonstration vient de montrer</a:t>
            </a:r>
          </a:p>
        </p:txBody>
      </p:sp>
      <p:sp>
        <p:nvSpPr>
          <p:cNvPr id="6" name="Rectangle 5"/>
          <p:cNvSpPr/>
          <p:nvPr/>
        </p:nvSpPr>
        <p:spPr>
          <a:xfrm>
            <a:off x="685800" y="1572768"/>
            <a:ext cx="1005840" cy="41148"/>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920240"/>
            <a:ext cx="2533573" cy="146304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20240"/>
            <a:ext cx="2533573" cy="68580"/>
          </a:xfrm>
          <a:prstGeom prst="rect">
            <a:avLst/>
          </a:prstGeom>
          <a:solidFill>
            <a:srgbClr val="2152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2076373" cy="457200"/>
          </a:xfrm>
          <a:prstGeom prst="rect">
            <a:avLst/>
          </a:prstGeom>
          <a:noFill/>
        </p:spPr>
        <p:txBody>
          <a:bodyPr wrap="square" anchor="t" lIns="0" rIns="0" tIns="0" bIns="0">
            <a:spAutoFit/>
          </a:bodyPr>
          <a:lstStyle/>
          <a:p>
            <a:pPr algn="l">
              <a:lnSpc>
                <a:spcPct val="100000"/>
              </a:lnSpc>
              <a:spcAft>
                <a:spcPts val="0"/>
              </a:spcAft>
            </a:pPr>
            <a:r>
              <a:rPr sz="2300" b="1">
                <a:solidFill>
                  <a:srgbClr val="21529C"/>
                </a:solidFill>
                <a:latin typeface="Segoe UI"/>
              </a:rPr>
              <a:t>Tout est relié</a:t>
            </a:r>
          </a:p>
        </p:txBody>
      </p:sp>
      <p:sp>
        <p:nvSpPr>
          <p:cNvPr id="10" name="TextBox 9"/>
          <p:cNvSpPr txBox="1"/>
          <p:nvPr/>
        </p:nvSpPr>
        <p:spPr>
          <a:xfrm>
            <a:off x="914400" y="2788920"/>
            <a:ext cx="2076373" cy="502920"/>
          </a:xfrm>
          <a:prstGeom prst="rect">
            <a:avLst/>
          </a:prstGeom>
          <a:noFill/>
        </p:spPr>
        <p:txBody>
          <a:bodyPr wrap="square" anchor="t" lIns="0" rIns="0" tIns="0" bIns="0">
            <a:spAutoFit/>
          </a:bodyPr>
          <a:lstStyle/>
          <a:p>
            <a:pPr algn="l">
              <a:lnSpc>
                <a:spcPct val="115000"/>
              </a:lnSpc>
              <a:spcAft>
                <a:spcPts val="0"/>
              </a:spcAft>
            </a:pPr>
            <a:r>
              <a:rPr sz="1200" b="0">
                <a:solidFill>
                  <a:srgbClr val="5F6B7C"/>
                </a:solidFill>
                <a:latin typeface="Segoe UI"/>
              </a:rPr>
              <a:t>Une saisie met à jour tous les écrans</a:t>
            </a:r>
          </a:p>
        </p:txBody>
      </p:sp>
      <p:sp>
        <p:nvSpPr>
          <p:cNvPr id="11" name="Rounded Rectangle 10"/>
          <p:cNvSpPr/>
          <p:nvPr/>
        </p:nvSpPr>
        <p:spPr>
          <a:xfrm>
            <a:off x="3447973" y="1920240"/>
            <a:ext cx="2533573" cy="146304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47973" y="1920240"/>
            <a:ext cx="2533573" cy="6858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6573" y="2249424"/>
            <a:ext cx="2076373" cy="457200"/>
          </a:xfrm>
          <a:prstGeom prst="rect">
            <a:avLst/>
          </a:prstGeom>
          <a:noFill/>
        </p:spPr>
        <p:txBody>
          <a:bodyPr wrap="square" anchor="t" lIns="0" rIns="0" tIns="0" bIns="0">
            <a:spAutoFit/>
          </a:bodyPr>
          <a:lstStyle/>
          <a:p>
            <a:pPr algn="l">
              <a:lnSpc>
                <a:spcPct val="100000"/>
              </a:lnSpc>
              <a:spcAft>
                <a:spcPts val="0"/>
              </a:spcAft>
            </a:pPr>
            <a:r>
              <a:rPr sz="2100" b="1">
                <a:solidFill>
                  <a:srgbClr val="0F9D58"/>
                </a:solidFill>
                <a:latin typeface="Segoe UI"/>
              </a:rPr>
              <a:t>Rien à calculer</a:t>
            </a:r>
          </a:p>
        </p:txBody>
      </p:sp>
      <p:sp>
        <p:nvSpPr>
          <p:cNvPr id="14" name="TextBox 13"/>
          <p:cNvSpPr txBox="1"/>
          <p:nvPr/>
        </p:nvSpPr>
        <p:spPr>
          <a:xfrm>
            <a:off x="3676573" y="2788920"/>
            <a:ext cx="2076373" cy="502920"/>
          </a:xfrm>
          <a:prstGeom prst="rect">
            <a:avLst/>
          </a:prstGeom>
          <a:noFill/>
        </p:spPr>
        <p:txBody>
          <a:bodyPr wrap="square" anchor="t" lIns="0" rIns="0" tIns="0" bIns="0">
            <a:spAutoFit/>
          </a:bodyPr>
          <a:lstStyle/>
          <a:p>
            <a:pPr algn="l">
              <a:lnSpc>
                <a:spcPct val="115000"/>
              </a:lnSpc>
              <a:spcAft>
                <a:spcPts val="0"/>
              </a:spcAft>
            </a:pPr>
            <a:r>
              <a:rPr sz="1200" b="0">
                <a:solidFill>
                  <a:srgbClr val="5F6B7C"/>
                </a:solidFill>
                <a:latin typeface="Segoe UI"/>
              </a:rPr>
              <a:t>Échéances et retards sont automatiques</a:t>
            </a:r>
          </a:p>
        </p:txBody>
      </p:sp>
      <p:sp>
        <p:nvSpPr>
          <p:cNvPr id="15" name="Rounded Rectangle 14"/>
          <p:cNvSpPr/>
          <p:nvPr/>
        </p:nvSpPr>
        <p:spPr>
          <a:xfrm>
            <a:off x="6210146" y="1920240"/>
            <a:ext cx="2533573" cy="146304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0146" y="1920240"/>
            <a:ext cx="2533573" cy="6858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8746" y="2249424"/>
            <a:ext cx="2076373" cy="457200"/>
          </a:xfrm>
          <a:prstGeom prst="rect">
            <a:avLst/>
          </a:prstGeom>
          <a:noFill/>
        </p:spPr>
        <p:txBody>
          <a:bodyPr wrap="square" anchor="t" lIns="0" rIns="0" tIns="0" bIns="0">
            <a:spAutoFit/>
          </a:bodyPr>
          <a:lstStyle/>
          <a:p>
            <a:pPr algn="l">
              <a:lnSpc>
                <a:spcPct val="100000"/>
              </a:lnSpc>
              <a:spcAft>
                <a:spcPts val="0"/>
              </a:spcAft>
            </a:pPr>
            <a:r>
              <a:rPr sz="2600" b="1">
                <a:solidFill>
                  <a:srgbClr val="0F9D58"/>
                </a:solidFill>
                <a:latin typeface="Segoe UI"/>
              </a:rPr>
              <a:t>3 clics</a:t>
            </a:r>
          </a:p>
        </p:txBody>
      </p:sp>
      <p:sp>
        <p:nvSpPr>
          <p:cNvPr id="18" name="TextBox 17"/>
          <p:cNvSpPr txBox="1"/>
          <p:nvPr/>
        </p:nvSpPr>
        <p:spPr>
          <a:xfrm>
            <a:off x="6438746" y="2788920"/>
            <a:ext cx="2076373" cy="502920"/>
          </a:xfrm>
          <a:prstGeom prst="rect">
            <a:avLst/>
          </a:prstGeom>
          <a:noFill/>
        </p:spPr>
        <p:txBody>
          <a:bodyPr wrap="square" anchor="t" lIns="0" rIns="0" tIns="0" bIns="0">
            <a:spAutoFit/>
          </a:bodyPr>
          <a:lstStyle/>
          <a:p>
            <a:pPr algn="l">
              <a:lnSpc>
                <a:spcPct val="115000"/>
              </a:lnSpc>
              <a:spcAft>
                <a:spcPts val="0"/>
              </a:spcAft>
            </a:pPr>
            <a:r>
              <a:rPr sz="1200" b="0">
                <a:solidFill>
                  <a:srgbClr val="5F6B7C"/>
                </a:solidFill>
                <a:latin typeface="Segoe UI"/>
              </a:rPr>
              <a:t>Pour encaisser un versement</a:t>
            </a:r>
          </a:p>
        </p:txBody>
      </p:sp>
      <p:sp>
        <p:nvSpPr>
          <p:cNvPr id="19" name="Rounded Rectangle 18"/>
          <p:cNvSpPr/>
          <p:nvPr/>
        </p:nvSpPr>
        <p:spPr>
          <a:xfrm>
            <a:off x="8972319" y="1920240"/>
            <a:ext cx="2533573" cy="146304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72319" y="1920240"/>
            <a:ext cx="2533573" cy="68580"/>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00919" y="2249424"/>
            <a:ext cx="2076373" cy="457200"/>
          </a:xfrm>
          <a:prstGeom prst="rect">
            <a:avLst/>
          </a:prstGeom>
          <a:noFill/>
        </p:spPr>
        <p:txBody>
          <a:bodyPr wrap="square" anchor="t" lIns="0" rIns="0" tIns="0" bIns="0">
            <a:spAutoFit/>
          </a:bodyPr>
          <a:lstStyle/>
          <a:p>
            <a:pPr algn="l">
              <a:lnSpc>
                <a:spcPct val="100000"/>
              </a:lnSpc>
              <a:spcAft>
                <a:spcPts val="0"/>
              </a:spcAft>
            </a:pPr>
            <a:r>
              <a:rPr sz="2100" b="1">
                <a:solidFill>
                  <a:srgbClr val="E37400"/>
                </a:solidFill>
                <a:latin typeface="Segoe UI"/>
              </a:rPr>
              <a:t>Prêt à l'emploi</a:t>
            </a:r>
          </a:p>
        </p:txBody>
      </p:sp>
      <p:sp>
        <p:nvSpPr>
          <p:cNvPr id="22" name="TextBox 21"/>
          <p:cNvSpPr txBox="1"/>
          <p:nvPr/>
        </p:nvSpPr>
        <p:spPr>
          <a:xfrm>
            <a:off x="9200919" y="2788920"/>
            <a:ext cx="2076373" cy="502920"/>
          </a:xfrm>
          <a:prstGeom prst="rect">
            <a:avLst/>
          </a:prstGeom>
          <a:noFill/>
        </p:spPr>
        <p:txBody>
          <a:bodyPr wrap="square" anchor="t" lIns="0" rIns="0" tIns="0" bIns="0">
            <a:spAutoFit/>
          </a:bodyPr>
          <a:lstStyle/>
          <a:p>
            <a:pPr algn="l">
              <a:lnSpc>
                <a:spcPct val="115000"/>
              </a:lnSpc>
              <a:spcAft>
                <a:spcPts val="0"/>
              </a:spcAft>
            </a:pPr>
            <a:r>
              <a:rPr sz="1200" b="0">
                <a:solidFill>
                  <a:srgbClr val="5F6B7C"/>
                </a:solidFill>
                <a:latin typeface="Segoe UI"/>
              </a:rPr>
              <a:t>Une commande pour tout démarrer</a:t>
            </a:r>
          </a:p>
        </p:txBody>
      </p:sp>
      <p:sp>
        <p:nvSpPr>
          <p:cNvPr id="23" name="Rounded Rectangle 22"/>
          <p:cNvSpPr/>
          <p:nvPr/>
        </p:nvSpPr>
        <p:spPr>
          <a:xfrm>
            <a:off x="685800" y="3703320"/>
            <a:ext cx="5212080" cy="201168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703320"/>
            <a:ext cx="5212080" cy="68580"/>
          </a:xfrm>
          <a:prstGeom prst="rect">
            <a:avLst/>
          </a:prstGeom>
          <a:solidFill>
            <a:srgbClr val="0F9D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959352"/>
            <a:ext cx="4663440" cy="320040"/>
          </a:xfrm>
          <a:prstGeom prst="rect">
            <a:avLst/>
          </a:prstGeom>
          <a:noFill/>
        </p:spPr>
        <p:txBody>
          <a:bodyPr wrap="square" anchor="t" lIns="0" rIns="0" tIns="0" bIns="0">
            <a:spAutoFit/>
          </a:bodyPr>
          <a:lstStyle/>
          <a:p>
            <a:pPr algn="l">
              <a:lnSpc>
                <a:spcPct val="100000"/>
              </a:lnSpc>
              <a:spcAft>
                <a:spcPts val="0"/>
              </a:spcAft>
            </a:pPr>
            <a:r>
              <a:rPr sz="1400" b="1">
                <a:solidFill>
                  <a:srgbClr val="0F9D58"/>
                </a:solidFill>
                <a:latin typeface="Segoe UI"/>
              </a:rPr>
              <a:t>Le gain pour le commerçant</a:t>
            </a:r>
          </a:p>
        </p:txBody>
      </p:sp>
      <p:sp>
        <p:nvSpPr>
          <p:cNvPr id="26" name="TextBox 25"/>
          <p:cNvSpPr txBox="1"/>
          <p:nvPr/>
        </p:nvSpPr>
        <p:spPr>
          <a:xfrm>
            <a:off x="960120" y="4416552"/>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Il sait en permanence qui lui doit quoi.</a:t>
            </a:r>
          </a:p>
        </p:txBody>
      </p:sp>
      <p:sp>
        <p:nvSpPr>
          <p:cNvPr id="27" name="TextBox 26"/>
          <p:cNvSpPr txBox="1"/>
          <p:nvPr/>
        </p:nvSpPr>
        <p:spPr>
          <a:xfrm>
            <a:off x="960120" y="4742688"/>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Il relance les bons clients, avec le bon montant.</a:t>
            </a:r>
          </a:p>
        </p:txBody>
      </p:sp>
      <p:sp>
        <p:nvSpPr>
          <p:cNvPr id="28" name="TextBox 27"/>
          <p:cNvSpPr txBox="1"/>
          <p:nvPr/>
        </p:nvSpPr>
        <p:spPr>
          <a:xfrm>
            <a:off x="960120" y="5068824"/>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Il encaisse sans faire attendre le client.</a:t>
            </a:r>
          </a:p>
        </p:txBody>
      </p:sp>
      <p:sp>
        <p:nvSpPr>
          <p:cNvPr id="29" name="TextBox 28"/>
          <p:cNvSpPr txBox="1"/>
          <p:nvPr/>
        </p:nvSpPr>
        <p:spPr>
          <a:xfrm>
            <a:off x="960120" y="5394960"/>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Il pilote sa trésorerie avec des chiffres fiables.</a:t>
            </a:r>
          </a:p>
        </p:txBody>
      </p:sp>
      <p:sp>
        <p:nvSpPr>
          <p:cNvPr id="30" name="Rounded Rectangle 29"/>
          <p:cNvSpPr/>
          <p:nvPr/>
        </p:nvSpPr>
        <p:spPr>
          <a:xfrm>
            <a:off x="6263640" y="3703320"/>
            <a:ext cx="5212080" cy="2011680"/>
          </a:xfrm>
          <a:prstGeom prst="roundRect">
            <a:avLst/>
          </a:prstGeom>
          <a:solidFill>
            <a:srgbClr val="F4F6FA"/>
          </a:solidFill>
          <a:ln w="12700">
            <a:solidFill>
              <a:srgbClr val="D8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63640" y="3703320"/>
            <a:ext cx="5212080" cy="68580"/>
          </a:xfrm>
          <a:prstGeom prst="rect">
            <a:avLst/>
          </a:prstGeom>
          <a:solidFill>
            <a:srgbClr val="E37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3959352"/>
            <a:ext cx="4663440" cy="320040"/>
          </a:xfrm>
          <a:prstGeom prst="rect">
            <a:avLst/>
          </a:prstGeom>
          <a:noFill/>
        </p:spPr>
        <p:txBody>
          <a:bodyPr wrap="square" anchor="t" lIns="0" rIns="0" tIns="0" bIns="0">
            <a:spAutoFit/>
          </a:bodyPr>
          <a:lstStyle/>
          <a:p>
            <a:pPr algn="l">
              <a:lnSpc>
                <a:spcPct val="100000"/>
              </a:lnSpc>
              <a:spcAft>
                <a:spcPts val="0"/>
              </a:spcAft>
            </a:pPr>
            <a:r>
              <a:rPr sz="1400" b="1">
                <a:solidFill>
                  <a:srgbClr val="E37400"/>
                </a:solidFill>
                <a:latin typeface="Segoe UI"/>
              </a:rPr>
              <a:t>Questions fréquentes</a:t>
            </a:r>
          </a:p>
        </p:txBody>
      </p:sp>
      <p:sp>
        <p:nvSpPr>
          <p:cNvPr id="33" name="TextBox 32"/>
          <p:cNvSpPr txBox="1"/>
          <p:nvPr/>
        </p:nvSpPr>
        <p:spPr>
          <a:xfrm>
            <a:off x="6537960" y="4416552"/>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 Et si je me trompe de montant ? »</a:t>
            </a:r>
          </a:p>
        </p:txBody>
      </p:sp>
      <p:sp>
        <p:nvSpPr>
          <p:cNvPr id="34" name="TextBox 33"/>
          <p:cNvSpPr txBox="1"/>
          <p:nvPr/>
        </p:nvSpPr>
        <p:spPr>
          <a:xfrm>
            <a:off x="6537960" y="4742688"/>
            <a:ext cx="4663440" cy="27127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Un versement s'annule, tout est recalculé.</a:t>
            </a:r>
          </a:p>
        </p:txBody>
      </p:sp>
      <p:sp>
        <p:nvSpPr>
          <p:cNvPr id="35" name="TextBox 34"/>
          <p:cNvSpPr txBox="1"/>
          <p:nvPr/>
        </p:nvSpPr>
        <p:spPr>
          <a:xfrm>
            <a:off x="6537960" y="5068824"/>
            <a:ext cx="4663440" cy="271272"/>
          </a:xfrm>
          <a:prstGeom prst="rect">
            <a:avLst/>
          </a:prstGeom>
          <a:noFill/>
        </p:spPr>
        <p:txBody>
          <a:bodyPr wrap="square" anchor="t" lIns="0" rIns="0" tIns="0" bIns="0">
            <a:spAutoFit/>
          </a:bodyPr>
          <a:lstStyle/>
          <a:p>
            <a:pPr algn="l">
              <a:lnSpc>
                <a:spcPct val="115000"/>
              </a:lnSpc>
              <a:spcAft>
                <a:spcPts val="0"/>
              </a:spcAft>
            </a:pPr>
            <a:r>
              <a:rPr sz="1300" b="1">
                <a:solidFill>
                  <a:srgbClr val="1C2331"/>
                </a:solidFill>
                <a:latin typeface="Segoe UI"/>
              </a:rPr>
              <a:t>« Puis-je envoyer par WhatsApp ? »</a:t>
            </a:r>
          </a:p>
        </p:txBody>
      </p:sp>
      <p:sp>
        <p:nvSpPr>
          <p:cNvPr id="36" name="TextBox 35"/>
          <p:cNvSpPr txBox="1"/>
          <p:nvPr/>
        </p:nvSpPr>
        <p:spPr>
          <a:xfrm>
            <a:off x="6537960" y="5394960"/>
            <a:ext cx="4663440" cy="27127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Oui, en copiant le message. L'envoi</a:t>
            </a:r>
          </a:p>
        </p:txBody>
      </p:sp>
      <p:sp>
        <p:nvSpPr>
          <p:cNvPr id="37" name="TextBox 36"/>
          <p:cNvSpPr txBox="1"/>
          <p:nvPr/>
        </p:nvSpPr>
        <p:spPr>
          <a:xfrm>
            <a:off x="6537960" y="5721096"/>
            <a:ext cx="4663440" cy="271272"/>
          </a:xfrm>
          <a:prstGeom prst="rect">
            <a:avLst/>
          </a:prstGeom>
          <a:noFill/>
        </p:spPr>
        <p:txBody>
          <a:bodyPr wrap="square" anchor="t" lIns="0" rIns="0" tIns="0" bIns="0">
            <a:spAutoFit/>
          </a:bodyPr>
          <a:lstStyle/>
          <a:p>
            <a:pPr algn="l">
              <a:lnSpc>
                <a:spcPct val="115000"/>
              </a:lnSpc>
              <a:spcAft>
                <a:spcPts val="0"/>
              </a:spcAft>
            </a:pPr>
            <a:r>
              <a:rPr sz="1300" b="0">
                <a:solidFill>
                  <a:srgbClr val="5F6B7C"/>
                </a:solidFill>
                <a:latin typeface="Segoe UI"/>
              </a:rPr>
              <a:t>automatique est la prochaine étape.</a:t>
            </a:r>
          </a:p>
        </p:txBody>
      </p:sp>
      <p:sp>
        <p:nvSpPr>
          <p:cNvPr id="38" name="TextBox 37"/>
          <p:cNvSpPr txBox="1"/>
          <p:nvPr/>
        </p:nvSpPr>
        <p:spPr>
          <a:xfrm>
            <a:off x="685800" y="6327648"/>
            <a:ext cx="8229600" cy="274320"/>
          </a:xfrm>
          <a:prstGeom prst="rect">
            <a:avLst/>
          </a:prstGeom>
          <a:noFill/>
        </p:spPr>
        <p:txBody>
          <a:bodyPr wrap="square" anchor="t" lIns="0" rIns="0" tIns="0" bIns="0">
            <a:spAutoFit/>
          </a:bodyPr>
          <a:lstStyle/>
          <a:p>
            <a:pPr algn="l">
              <a:lnSpc>
                <a:spcPct val="100000"/>
              </a:lnSpc>
              <a:spcAft>
                <a:spcPts val="0"/>
              </a:spcAft>
            </a:pPr>
            <a:r>
              <a:rPr sz="1000" b="0">
                <a:solidFill>
                  <a:srgbClr val="5F6B7C"/>
                </a:solidFill>
                <a:latin typeface="Segoe UI"/>
              </a:rPr>
              <a:t>CreditFlow — Démonstration guidée</a:t>
            </a:r>
          </a:p>
        </p:txBody>
      </p:sp>
      <p:sp>
        <p:nvSpPr>
          <p:cNvPr id="39" name="TextBox 38"/>
          <p:cNvSpPr txBox="1"/>
          <p:nvPr/>
        </p:nvSpPr>
        <p:spPr>
          <a:xfrm>
            <a:off x="10408615" y="6327648"/>
            <a:ext cx="1097280" cy="274320"/>
          </a:xfrm>
          <a:prstGeom prst="rect">
            <a:avLst/>
          </a:prstGeom>
          <a:noFill/>
        </p:spPr>
        <p:txBody>
          <a:bodyPr wrap="square" anchor="t" lIns="0" rIns="0" tIns="0" bIns="0">
            <a:spAutoFit/>
          </a:bodyPr>
          <a:lstStyle/>
          <a:p>
            <a:pPr algn="r">
              <a:lnSpc>
                <a:spcPct val="100000"/>
              </a:lnSpc>
              <a:spcAft>
                <a:spcPts val="0"/>
              </a:spcAft>
            </a:pPr>
            <a:r>
              <a:rPr sz="1000" b="1">
                <a:solidFill>
                  <a:srgbClr val="5F6B7C"/>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17520"/>
            <a:ext cx="12191695" cy="54864"/>
          </a:xfrm>
          <a:prstGeom prst="rect">
            <a:avLst/>
          </a:prstGeom>
          <a:solidFill>
            <a:srgbClr val="4B7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103120"/>
            <a:ext cx="10058400" cy="914400"/>
          </a:xfrm>
          <a:prstGeom prst="rect">
            <a:avLst/>
          </a:prstGeom>
          <a:noFill/>
        </p:spPr>
        <p:txBody>
          <a:bodyPr wrap="square" anchor="t" lIns="0" rIns="0" tIns="0" bIns="0">
            <a:spAutoFit/>
          </a:bodyPr>
          <a:lstStyle/>
          <a:p>
            <a:pPr algn="l">
              <a:lnSpc>
                <a:spcPct val="100000"/>
              </a:lnSpc>
              <a:spcAft>
                <a:spcPts val="0"/>
              </a:spcAft>
            </a:pPr>
            <a:r>
              <a:rPr sz="4000" b="1">
                <a:solidFill>
                  <a:srgbClr val="FFFFFF"/>
                </a:solidFill>
                <a:latin typeface="Segoe UI"/>
              </a:rPr>
              <a:t>Merci — place à vos questions</a:t>
            </a:r>
          </a:p>
        </p:txBody>
      </p:sp>
      <p:sp>
        <p:nvSpPr>
          <p:cNvPr id="5" name="TextBox 4"/>
          <p:cNvSpPr txBox="1"/>
          <p:nvPr/>
        </p:nvSpPr>
        <p:spPr>
          <a:xfrm>
            <a:off x="685800" y="3337560"/>
            <a:ext cx="9601200" cy="731520"/>
          </a:xfrm>
          <a:prstGeom prst="rect">
            <a:avLst/>
          </a:prstGeom>
          <a:noFill/>
        </p:spPr>
        <p:txBody>
          <a:bodyPr wrap="square" anchor="t" lIns="0" rIns="0" tIns="0" bIns="0">
            <a:spAutoFit/>
          </a:bodyPr>
          <a:lstStyle/>
          <a:p>
            <a:pPr algn="l">
              <a:lnSpc>
                <a:spcPct val="125000"/>
              </a:lnSpc>
              <a:spcAft>
                <a:spcPts val="0"/>
              </a:spcAft>
            </a:pPr>
            <a:r>
              <a:rPr sz="1800" b="0">
                <a:solidFill>
                  <a:srgbClr val="C8D6EC"/>
                </a:solidFill>
                <a:latin typeface="Segoe UI"/>
              </a:rPr>
              <a:t>La démonstration peut être rejouée à tout moment sur vos propres données.</a:t>
            </a:r>
          </a:p>
        </p:txBody>
      </p:sp>
      <p:sp>
        <p:nvSpPr>
          <p:cNvPr id="6" name="TextBox 5"/>
          <p:cNvSpPr txBox="1"/>
          <p:nvPr/>
        </p:nvSpPr>
        <p:spPr>
          <a:xfrm>
            <a:off x="685800" y="4480560"/>
            <a:ext cx="10058400" cy="1097280"/>
          </a:xfrm>
          <a:prstGeom prst="rect">
            <a:avLst/>
          </a:prstGeom>
          <a:noFill/>
        </p:spPr>
        <p:txBody>
          <a:bodyPr wrap="square" anchor="t" lIns="0" rIns="0" tIns="0" bIns="0">
            <a:spAutoFit/>
          </a:bodyPr>
          <a:lstStyle/>
          <a:p>
            <a:pPr algn="l">
              <a:lnSpc>
                <a:spcPct val="100000"/>
              </a:lnSpc>
              <a:spcAft>
                <a:spcPts val="800"/>
              </a:spcAft>
            </a:pPr>
            <a:r>
              <a:rPr sz="1500" b="0">
                <a:solidFill>
                  <a:srgbClr val="9FB4D6"/>
                </a:solidFill>
                <a:latin typeface="Segoe UI"/>
              </a:rPr>
              <a:t>Application       http://localhost:3010</a:t>
            </a:r>
          </a:p>
          <a:p>
            <a:pPr algn="l">
              <a:lnSpc>
                <a:spcPct val="100000"/>
              </a:lnSpc>
              <a:spcAft>
                <a:spcPts val="800"/>
              </a:spcAft>
            </a:pPr>
            <a:r>
              <a:rPr sz="1500" b="0">
                <a:solidFill>
                  <a:srgbClr val="9FB4D6"/>
                </a:solidFill>
                <a:latin typeface="Segoe UI"/>
              </a:rPr>
              <a:t>Documentation  http://localhost:8080/swagger-ui.html</a:t>
            </a:r>
          </a:p>
          <a:p>
            <a:pPr algn="l">
              <a:lnSpc>
                <a:spcPct val="100000"/>
              </a:lnSpc>
              <a:spcAft>
                <a:spcPts val="800"/>
              </a:spcAft>
            </a:pPr>
            <a:r>
              <a:rPr sz="1500" b="0">
                <a:solidFill>
                  <a:srgbClr val="9FB4D6"/>
                </a:solidFill>
                <a:latin typeface="Segoe UI"/>
              </a:rPr>
              <a:t>Démarrage        docker compose 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