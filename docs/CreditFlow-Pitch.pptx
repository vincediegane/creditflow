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65615" y="0"/>
            <a:ext cx="457200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97135" y="0"/>
            <a:ext cx="164592" cy="6858000"/>
          </a:xfrm>
          <a:prstGeom prst="rect">
            <a:avLst/>
          </a:prstGeom>
          <a:solidFill>
            <a:srgbClr val="4B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B7AC8"/>
                </a:solidFill>
                <a:latin typeface="Segoe UI"/>
              </a:rPr>
              <a:t>SOLUTION DE GESTION POUR BOUTIQUE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CreditFlow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C8D6EC"/>
                </a:solidFill>
                <a:latin typeface="Segoe UI"/>
              </a:rPr>
              <a:t>Digitaliser la vente à crédit de téléphones et d'ordinateurs :
clients, échéances, paiements et relances.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709160"/>
            <a:ext cx="1280160" cy="45720"/>
          </a:xfrm>
          <a:prstGeom prst="rect">
            <a:avLst/>
          </a:prstGeom>
          <a:solidFill>
            <a:srgbClr val="4B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FB4D6"/>
                </a:solidFill>
                <a:latin typeface="Segoe UI"/>
              </a:rPr>
              <a:t>Présentation commerciale — MVP opérationnel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5221F"/>
                </a:solidFill>
                <a:latin typeface="Segoe UI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Aujourd'hui, tout repose sur la mémoire et le cahier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48256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965960"/>
            <a:ext cx="5724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Les créances sont suivies à la main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Cahiers, tableurs, notes sur téléphone : l'information est éparpillée.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87980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805684"/>
            <a:ext cx="5724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Les relances sont envoyées en masse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Un même message générique à tous les clients, chaque début de mois.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27704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645408"/>
            <a:ext cx="5724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Personne ne sait qui doit quoi, exactement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Le montant restant d'un client demande de reconstituer tout son historique.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567428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85132"/>
            <a:ext cx="5724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Les retards se découvrent trop tard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Aucune alerte : un impayé se remarque quand le client ne vient plus.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965960"/>
            <a:ext cx="4297680" cy="30175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1965960"/>
            <a:ext cx="4297680" cy="685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221992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5221F"/>
                </a:solidFill>
                <a:latin typeface="Segoe UI"/>
              </a:rPr>
              <a:t>Le message envoyé chaque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679192"/>
            <a:ext cx="374904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« Bonjour chers clients, je viens vous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005328"/>
            <a:ext cx="374904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rappeler que le versement mensuel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331464"/>
            <a:ext cx="374904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votre créance est en cours du 01 au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657600"/>
            <a:ext cx="374904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Août 2026...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983736"/>
            <a:ext cx="374904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309872"/>
            <a:ext cx="374904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Envoyé à tout le monde, sans montant,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636008"/>
            <a:ext cx="374904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sans échéance, sans suivi.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5221F"/>
                </a:solidFill>
                <a:latin typeface="Segoe UI"/>
              </a:rPr>
              <a:t>L'IMPACT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Ce que la gestion manuelle coûte réellement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533573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2533573" cy="685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C5221F"/>
                </a:solidFill>
                <a:latin typeface="Segoe UI"/>
              </a:rPr>
              <a:t>Trésorerie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076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De l'argent dû qui rentre en retard, ou jamais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1965960"/>
            <a:ext cx="2533573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973" y="1965960"/>
            <a:ext cx="2533573" cy="6858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37400"/>
                </a:solidFill>
                <a:latin typeface="Segoe UI"/>
              </a:rPr>
              <a:t>Temps perdu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2834640"/>
            <a:ext cx="2076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Des heures chaque mois à recopier et à recompter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6" y="1965960"/>
            <a:ext cx="2533573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6" y="1965960"/>
            <a:ext cx="2533573" cy="6858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746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37400"/>
                </a:solidFill>
                <a:latin typeface="Segoe UI"/>
              </a:rPr>
              <a:t>Erreurs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6" y="2834640"/>
            <a:ext cx="2076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Un versement oublié, un montant faux, un litige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319" y="1965960"/>
            <a:ext cx="2533573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2319" y="1965960"/>
            <a:ext cx="2533573" cy="685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919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5221F"/>
                </a:solidFill>
                <a:latin typeface="Segoe UI"/>
              </a:rPr>
              <a:t>Aucune visibilité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919" y="2834640"/>
            <a:ext cx="2076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Impossible de piloter : combien reste-t-il à récupérer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10820095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977639"/>
            <a:ext cx="10820095" cy="685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33671"/>
            <a:ext cx="10271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5221F"/>
                </a:solidFill>
                <a:latin typeface="Segoe UI"/>
              </a:rPr>
              <a:t>Le vrai problème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90871"/>
            <a:ext cx="10271455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Le commerçant ne manque pas de clients : il manque d'information fiable, au bon moment.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017007"/>
            <a:ext cx="10271455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Chaque créance mal suivie est une vente déjà réalisée dont l'argent n'est pas encore rentré.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CreditFlow : la vente à crédit, entièrement digitalisée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5F6B7C"/>
                </a:solidFill>
                <a:latin typeface="Segoe UI"/>
              </a:rPr>
              <a:t>Une application web unique qui remplace le cahier, le tableur et les messages envoyés au hasard.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2533573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651760"/>
            <a:ext cx="2533573" cy="82296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97180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1529C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C2331"/>
                </a:solidFill>
                <a:latin typeface="Segoe UI"/>
              </a:rPr>
              <a:t>Enregistrer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840480"/>
            <a:ext cx="202150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Clients, produits et contrats de crédit en quelques clics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973" y="2651760"/>
            <a:ext cx="2533573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973" y="2651760"/>
            <a:ext cx="2533573" cy="82296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4005" y="297180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1529C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4005" y="338328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C2331"/>
                </a:solidFill>
                <a:latin typeface="Segoe UI"/>
              </a:rPr>
              <a:t>Calculer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4005" y="3840480"/>
            <a:ext cx="202150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Échéancier, mensualité et date de fin générés automatiquement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6" y="2651760"/>
            <a:ext cx="2533573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6" y="2651760"/>
            <a:ext cx="2533573" cy="82296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6178" y="297180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9D58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6178" y="338328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C2331"/>
                </a:solidFill>
                <a:latin typeface="Segoe UI"/>
              </a:rPr>
              <a:t>Encaisser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6178" y="3840480"/>
            <a:ext cx="202150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Un versement met tout à jour : échéances, contrat, tableau de bord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319" y="2651760"/>
            <a:ext cx="2533573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2319" y="2651760"/>
            <a:ext cx="2533573" cy="82296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351" y="297180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37400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8351" y="3383280"/>
            <a:ext cx="20215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C2331"/>
                </a:solidFill>
                <a:latin typeface="Segoe UI"/>
              </a:rPr>
              <a:t>Relancer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8351" y="3840480"/>
            <a:ext cx="202150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Le message personnalisé est prêt à copier pour chaque client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66360"/>
            <a:ext cx="10820095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166360"/>
            <a:ext cx="10820095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22392"/>
            <a:ext cx="10271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9D58"/>
                </a:solidFill>
                <a:latin typeface="Segoe UI"/>
              </a:rPr>
              <a:t>Principe directeur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10271455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Le commerçant saisit le strict minimum. Le système calcule tout le reste.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CE QUI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Avant / après CreditFlow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2813224" cy="47548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84832"/>
            <a:ext cx="2538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499024" y="1965960"/>
            <a:ext cx="3678832" cy="47548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3616" y="2084832"/>
            <a:ext cx="3404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Avant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7856" y="1965960"/>
            <a:ext cx="4328038" cy="47548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448" y="2084832"/>
            <a:ext cx="4053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Avec CreditFlow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41448"/>
            <a:ext cx="28132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69464"/>
            <a:ext cx="2538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2331"/>
                </a:solidFill>
                <a:latin typeface="Segoe UI"/>
              </a:rPr>
              <a:t>Suivi des créances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9024" y="2441448"/>
            <a:ext cx="36788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3616" y="2569464"/>
            <a:ext cx="3404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F6B7C"/>
                </a:solidFill>
                <a:latin typeface="Segoe UI"/>
              </a:rPr>
              <a:t>Cahier et mémoire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7856" y="2441448"/>
            <a:ext cx="43280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448" y="2569464"/>
            <a:ext cx="40537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Segoe UI"/>
              </a:rPr>
              <a:t>✓ Fiche client complète et à jour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16936"/>
            <a:ext cx="2813224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044952"/>
            <a:ext cx="2538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2331"/>
                </a:solidFill>
                <a:latin typeface="Segoe UI"/>
              </a:rPr>
              <a:t>Calcul des échéances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9024" y="2916936"/>
            <a:ext cx="3678832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3616" y="3044952"/>
            <a:ext cx="3404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F6B7C"/>
                </a:solidFill>
                <a:latin typeface="Segoe UI"/>
              </a:rPr>
              <a:t>À la main, source d'erreurs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7856" y="2916936"/>
            <a:ext cx="4328038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448" y="3044952"/>
            <a:ext cx="40537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Segoe UI"/>
              </a:rPr>
              <a:t>✓ Généré automatiquement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392424"/>
            <a:ext cx="28132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520440"/>
            <a:ext cx="2538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2331"/>
                </a:solidFill>
                <a:latin typeface="Segoe UI"/>
              </a:rPr>
              <a:t>Enregistrer un paiement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99024" y="3392424"/>
            <a:ext cx="36788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63616" y="3520440"/>
            <a:ext cx="3404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F6B7C"/>
                </a:solidFill>
                <a:latin typeface="Segoe UI"/>
              </a:rPr>
              <a:t>Une ligne dans un cahier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7856" y="3392424"/>
            <a:ext cx="43280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448" y="3520440"/>
            <a:ext cx="40537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Segoe UI"/>
              </a:rPr>
              <a:t>✓ 3 clics, tout se met à jour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867912"/>
            <a:ext cx="2813224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3995928"/>
            <a:ext cx="2538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2331"/>
                </a:solidFill>
                <a:latin typeface="Segoe UI"/>
              </a:rPr>
              <a:t>Connaître le reste dû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9024" y="3867912"/>
            <a:ext cx="3678832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3616" y="3995928"/>
            <a:ext cx="3404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F6B7C"/>
                </a:solidFill>
                <a:latin typeface="Segoe UI"/>
              </a:rPr>
              <a:t>Reconstituer l'historique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7856" y="3867912"/>
            <a:ext cx="4328038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2448" y="3995928"/>
            <a:ext cx="40537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Segoe UI"/>
              </a:rPr>
              <a:t>✓ Affiché en permanence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343400"/>
            <a:ext cx="28132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471416"/>
            <a:ext cx="2538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2331"/>
                </a:solidFill>
                <a:latin typeface="Segoe UI"/>
              </a:rPr>
              <a:t>Clients en retard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9024" y="4343400"/>
            <a:ext cx="36788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63616" y="4471416"/>
            <a:ext cx="3404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F6B7C"/>
                </a:solidFill>
                <a:latin typeface="Segoe UI"/>
              </a:rPr>
              <a:t>Découverts trop tard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7856" y="4343400"/>
            <a:ext cx="43280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2448" y="4471416"/>
            <a:ext cx="40537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Segoe UI"/>
              </a:rPr>
              <a:t>✓ Tableau dédié, jours de retard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818888"/>
            <a:ext cx="2813224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4946904"/>
            <a:ext cx="2538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2331"/>
                </a:solidFill>
                <a:latin typeface="Segoe UI"/>
              </a:rPr>
              <a:t>Relances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99024" y="4818888"/>
            <a:ext cx="3678832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63616" y="4946904"/>
            <a:ext cx="3404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F6B7C"/>
                </a:solidFill>
                <a:latin typeface="Segoe UI"/>
              </a:rPr>
              <a:t>Message générique groupé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7856" y="4818888"/>
            <a:ext cx="4328038" cy="475488"/>
          </a:xfrm>
          <a:prstGeom prst="rect">
            <a:avLst/>
          </a:prstGeom>
          <a:solidFill>
            <a:srgbClr val="F4F6FA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448" y="4946904"/>
            <a:ext cx="40537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Segoe UI"/>
              </a:rPr>
              <a:t>✓ Message personnalisé par client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5294376"/>
            <a:ext cx="281322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" y="5422392"/>
            <a:ext cx="2538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C2331"/>
                </a:solidFill>
                <a:latin typeface="Segoe UI"/>
              </a:rPr>
              <a:t>Rapports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99024" y="5294376"/>
            <a:ext cx="36788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63616" y="5422392"/>
            <a:ext cx="3404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F6B7C"/>
                </a:solidFill>
                <a:latin typeface="Segoe UI"/>
              </a:rPr>
              <a:t>Inexistants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7856" y="5294376"/>
            <a:ext cx="43280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42448" y="5422392"/>
            <a:ext cx="40537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Segoe UI"/>
              </a:rPr>
              <a:t>✓ Export PDF et Excel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AU CŒUR DU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L'échéancier se calcule tout seul, au franc 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F6B7C"/>
                </a:solidFill>
                <a:latin typeface="Segoe UI"/>
              </a:rPr>
              <a:t>Le commerçant saisit quatre informations :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F6B7C"/>
                </a:solidFill>
                <a:latin typeface="Segoe UI"/>
              </a:rPr>
              <a:t>le prix, l'acompte, le nombre de mensualités et la date de début.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5029200" cy="22860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5029200" cy="6858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1529C"/>
                </a:solidFill>
                <a:latin typeface="Segoe UI"/>
              </a:rPr>
              <a:t>Saisie du commerçant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Prix de vente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53968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110 000 FCFA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80104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Acompte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06240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10 000 FCFA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32376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Mensualités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58512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3 mois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514600"/>
            <a:ext cx="5303520" cy="22860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514600"/>
            <a:ext cx="5303520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7063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9D58"/>
                </a:solidFill>
                <a:latin typeface="Segoe UI"/>
              </a:rPr>
              <a:t>Calculé par CreditFlow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27832"/>
            <a:ext cx="475488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Échéance 1  →  33 333 FCFA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53968"/>
            <a:ext cx="475488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Échéance 2  →  33 333 FCFA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80104"/>
            <a:ext cx="475488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Échéance 3  →  33 334 FCFA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475488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32376"/>
            <a:ext cx="475488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Total = 100 000 FCFA, exactement.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29200"/>
            <a:ext cx="10820095" cy="960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029200"/>
            <a:ext cx="10820095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85232"/>
            <a:ext cx="10271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9D58"/>
                </a:solidFill>
                <a:latin typeface="Segoe UI"/>
              </a:rPr>
              <a:t>Pourquoi c'est important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742432"/>
            <a:ext cx="10271455" cy="46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La dernière échéance absorbe l'arrondi : la somme des échéances est toujours exactement égale au montant dû. Aucun centime ne se perd, aucun litige possible.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37400"/>
                </a:solidFill>
                <a:latin typeface="Segoe UI"/>
              </a:rPr>
              <a:t>RELANCES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Chaque client reçoit son message, avec son montant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48256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965960"/>
            <a:ext cx="5449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Le tableau des retards est automatique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Jours de retard, montant dû, téléphone : tout est affiché, trié par urgence.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87980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805684"/>
            <a:ext cx="5449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Un bouton « Générer la relance »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Le message est écrit avec le nom du client et son montant réel.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27704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645408"/>
            <a:ext cx="5449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Le commerçant copie et envoie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WhatsApp ou SMS, comme aujourd'hui — mais avec le bon message.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965960"/>
            <a:ext cx="4572000" cy="265176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965960"/>
            <a:ext cx="4572000" cy="6858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22199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37400"/>
                </a:solidFill>
                <a:latin typeface="Segoe UI"/>
              </a:rPr>
              <a:t>Message généré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679192"/>
            <a:ext cx="40233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Bonjour Ndeye Faye,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005328"/>
            <a:ext cx="40233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Nous vous rappelons que votre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331464"/>
            <a:ext cx="40233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versement mensuel de 39 844 FCFA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657600"/>
            <a:ext cx="40233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est attendu entre le 1 et le 10 du mois.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983736"/>
            <a:ext cx="40233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Merci pour votre confiance.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820095" cy="960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820095" cy="6858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48072"/>
            <a:ext cx="10271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1529C"/>
                </a:solidFill>
                <a:latin typeface="Segoe UI"/>
              </a:rPr>
              <a:t>Et demain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05272"/>
            <a:ext cx="10271455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L'envoi automatique par WhatsApp Cloud API est déjà prévu dans l'architecture : il s'activera sans réécrire l'application.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Le commerçant voit enfin son activité en un coup d'œil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533573" cy="15544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2533573" cy="6858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21529C"/>
                </a:solidFill>
                <a:latin typeface="Segoe UI"/>
              </a:rPr>
              <a:t>Reste à récupérer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07637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Le total des créances en cours, en temps réel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1965960"/>
            <a:ext cx="2533573" cy="15544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973" y="1965960"/>
            <a:ext cx="2533573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F9D58"/>
                </a:solidFill>
                <a:latin typeface="Segoe UI"/>
              </a:rPr>
              <a:t>Encaissé ce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2834640"/>
            <a:ext cx="207637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Ce qui est réellement rentré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6" y="1965960"/>
            <a:ext cx="2533573" cy="15544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6" y="1965960"/>
            <a:ext cx="2533573" cy="6858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746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5221F"/>
                </a:solidFill>
                <a:latin typeface="Segoe UI"/>
              </a:rPr>
              <a:t>Clients en retard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6" y="2834640"/>
            <a:ext cx="207637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Qui relancer, et de combien de jours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319" y="1965960"/>
            <a:ext cx="2533573" cy="15544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2319" y="1965960"/>
            <a:ext cx="2533573" cy="6858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919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37400"/>
                </a:solidFill>
                <a:latin typeface="Segoe UI"/>
              </a:rPr>
              <a:t>Prochaines échéances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919" y="2834640"/>
            <a:ext cx="207637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Ce qui est attendu dans les 30 jours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Et quatre rapports exportables en PDF et Excel :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471416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38912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C2331"/>
                </a:solidFill>
                <a:latin typeface="Segoe UI"/>
              </a:rPr>
              <a:t>Paiements du jour  •  Paiements du mois  •  Clients en retard  •  Créances restantes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83480"/>
            <a:ext cx="10820095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83480"/>
            <a:ext cx="10820095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39512"/>
            <a:ext cx="10271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9D58"/>
                </a:solidFill>
                <a:latin typeface="Segoe UI"/>
              </a:rPr>
              <a:t>Bénéfice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96712"/>
            <a:ext cx="10271455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Des chiffres fiables pour décider : relancer, accorder un nouveau crédit, ou réapprovisionner.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CONÇU POUR LE TERRAIN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Utilisable par un commerçant, pas par un informaticien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93976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011680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Trois clics maximum pour encaisser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L'opération la plus fréquente est la plus rapide.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729230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646934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Navigation latérale, toujours visible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Huit rubriques, pas de menu caché.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364484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282188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Interface en français, mode clair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Montants en FCFA, dates au format local.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999738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917442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Fonctionne sur téléphone et tablette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Utilisable au comptoir comme en déplacement.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11680"/>
            <a:ext cx="5029200" cy="310896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011680"/>
            <a:ext cx="5029200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6771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9D58"/>
                </a:solidFill>
                <a:latin typeface="Segoe UI"/>
              </a:rPr>
              <a:t>Encaisser un paiement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24912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1.  Ouvrir la liste des retards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051048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2.  Cliquer sur « Encaisser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377184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3.  Valider le montant proposé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703320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29456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Le montant de la mensualité 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355592"/>
            <a:ext cx="448056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déjà pré-rempli.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FIABILITÉ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Une base technique sérieuse, pas un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48256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965960"/>
            <a:ext cx="5358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Technologies éprouvées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Java 21 / Spring Boot, React, PostgreSQL, Docker.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83510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601214"/>
            <a:ext cx="5358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Accès protégé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Connexion par mot de passe, session sécurisée par jeton.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318764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236468"/>
            <a:ext cx="5358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Données maîtrisées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Base versionnée par migrations : aucune perte, aucune surprise.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58488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076192"/>
            <a:ext cx="5358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Testé et vérifié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32 tests automatisés et une validation complète en conditions réelles.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965960"/>
            <a:ext cx="4663440" cy="29260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1965960"/>
            <a:ext cx="4663440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22199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9D58"/>
                </a:solidFill>
                <a:latin typeface="Segoe UI"/>
              </a:rPr>
              <a:t>Installation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679192"/>
            <a:ext cx="411480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Une seule commande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005328"/>
            <a:ext cx="411480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docker compose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331464"/>
            <a:ext cx="411480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657600"/>
            <a:ext cx="411480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Base de données, serveur 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983736"/>
            <a:ext cx="411480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interface démarrent ensemble,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309872"/>
            <a:ext cx="4114800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avec un jeu de démonstration.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LA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Une trajectoire déjà préparée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342381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94560"/>
            <a:ext cx="3423818" cy="82296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9D58"/>
                </a:solidFill>
                <a:latin typeface="Segoe UI"/>
              </a:rPr>
              <a:t>AUJOURD'HUI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C2331"/>
                </a:solidFill>
                <a:latin typeface="Segoe UI"/>
              </a:rPr>
              <a:t>MVP mono-boutique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Toutes les fonctions du quotidien sont opérationnelles.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194560"/>
            <a:ext cx="342381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938" y="2194560"/>
            <a:ext cx="3423818" cy="82296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8258" y="2514600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1529C"/>
                </a:solidFill>
                <a:latin typeface="Segoe UI"/>
              </a:rPr>
              <a:t>ÉTAPE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292608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C2331"/>
                </a:solidFill>
                <a:latin typeface="Segoe UI"/>
              </a:rPr>
              <a:t>Envoi automatique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3520440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Relances WhatsApp Cloud API, sans copier-coller.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2194560"/>
            <a:ext cx="342381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2076" y="2194560"/>
            <a:ext cx="3423818" cy="82296"/>
          </a:xfrm>
          <a:prstGeom prst="rect">
            <a:avLst/>
          </a:prstGeom>
          <a:solidFill>
            <a:srgbClr val="4B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396" y="2514600"/>
            <a:ext cx="28751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B7AC8"/>
                </a:solidFill>
                <a:latin typeface="Segoe UI"/>
              </a:rPr>
              <a:t>ÉTAPE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92608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C2331"/>
                </a:solidFill>
                <a:latin typeface="Segoe UI"/>
              </a:rPr>
              <a:t>SaaS multi-boutiques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3520440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Plusieurs boutiques, chacune avec ses données.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46320"/>
            <a:ext cx="10820095" cy="105156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846320"/>
            <a:ext cx="10820095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02352"/>
            <a:ext cx="10271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9D58"/>
                </a:solidFill>
                <a:latin typeface="Segoe UI"/>
              </a:rPr>
              <a:t>Pourquoi c'est crédible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59552"/>
            <a:ext cx="10271455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F6B7C"/>
                </a:solidFill>
                <a:latin typeface="Segoe UI"/>
              </a:rPr>
              <a:t>Le code est organisé par module métier et l'envoi de relances est déjà isolé derrière une interface dédiée.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885688"/>
            <a:ext cx="10271455" cy="27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2331"/>
                </a:solidFill>
                <a:latin typeface="Segoe UI"/>
              </a:rPr>
              <a:t>Passer au multi-boutiques et à WhatsApp est une extension, pas une réécriture.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9D58"/>
                </a:solidFill>
                <a:latin typeface="Segoe UI"/>
              </a:rPr>
              <a:t>LIVRAISON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C2331"/>
                </a:solidFill>
                <a:latin typeface="Segoe UI"/>
              </a:rPr>
              <a:t>Ce qui est disponible dès maintenant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005840" cy="4114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533573" cy="1371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2533573" cy="68580"/>
          </a:xfrm>
          <a:prstGeom prst="rect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21529C"/>
                </a:solidFill>
                <a:latin typeface="Segoe U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0763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modules fonctionnels couvrant tout le processus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1965960"/>
            <a:ext cx="2533573" cy="1371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973" y="1965960"/>
            <a:ext cx="2533573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9D58"/>
                </a:solidFill>
                <a:latin typeface="Segoe UI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2834640"/>
            <a:ext cx="20763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des fonctions du MVP opérationnelles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6" y="1965960"/>
            <a:ext cx="2533573" cy="1371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6" y="1965960"/>
            <a:ext cx="2533573" cy="6858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746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F9D58"/>
                </a:solidFill>
                <a:latin typeface="Segoe UI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6" y="2834640"/>
            <a:ext cx="20763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tests automatisés au vert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319" y="1965960"/>
            <a:ext cx="2533573" cy="1371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2319" y="1965960"/>
            <a:ext cx="2533573" cy="68580"/>
          </a:xfrm>
          <a:prstGeom prst="rect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919" y="2295144"/>
            <a:ext cx="20763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37400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919" y="2834640"/>
            <a:ext cx="20763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F6B7C"/>
                </a:solidFill>
                <a:latin typeface="Segoe UI"/>
              </a:rPr>
              <a:t>commande pour tout démarrer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C2331"/>
                </a:solidFill>
                <a:latin typeface="Segoe UI"/>
              </a:rPr>
              <a:t>Prêt pour une démonstration immédiate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379976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29768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Un jeu de démonstration est créé automatiquement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5F6B7C"/>
                </a:solidFill>
                <a:latin typeface="Segoe UI"/>
              </a:rPr>
              <a:t>10 clients, 15 produits, 20 contrats et 30 paiements — dont des retards réalistes.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5015230"/>
            <a:ext cx="118872" cy="118872"/>
          </a:xfrm>
          <a:prstGeom prst="ellipse">
            <a:avLst/>
          </a:prstGeom>
          <a:solidFill>
            <a:srgbClr val="215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493293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C2331"/>
                </a:solidFill>
                <a:latin typeface="Segoe UI"/>
              </a:rPr>
              <a:t>Aucune saisie préalable n'est nécessaire pour montrer le produit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F6B7C"/>
                </a:solidFill>
                <a:latin typeface="Segoe UI"/>
              </a:rPr>
              <a:t>CreditFlow — Présentation commerciale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8615" y="6327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F6B7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4B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Reprenez le contrôle de vos créances.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C8D6EC"/>
                </a:solidFill>
                <a:latin typeface="Segoe UI"/>
              </a:rPr>
              <a:t>CreditFlow transforme un cahier de créances en un outil de pilotage.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FC9A8"/>
                </a:solidFill>
                <a:latin typeface="Segoe UI"/>
              </a:rPr>
              <a:t>Prochaine étape : une démonstration sur vos propres données.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FB4D6"/>
                </a:solidFill>
                <a:latin typeface="Segoe UI"/>
              </a:rPr>
              <a:t>docker compose up  →  http://localhost:3010  →  admin / admin123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